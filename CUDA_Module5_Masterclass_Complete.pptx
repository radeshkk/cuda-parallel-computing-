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Module 5 Masterclass on CUDA Parallel Programming. This presentation covers every fundamental topic from Peter Pacheco Chapter 6 and the VTU BCS702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Flynn's taxonomy categorized all computers into SISD, SIMD, MISD, and MIMD. NVIDIA invented SIMT as a hybrid: program written in scalar threads, hardware executed as lockstep 32-thread warps.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silicon die photos: CPU has massive L3 cache taking 80% space. GPU has tiny L2 and huge arrays of Streaming Multiprocessors filled with ALUs.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Host-Device model: Host has CPU and RAM, Device has GPU and VRAM. Connected over PCIe. Emphasize why transferring back and forth kills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levels: Thread -&gt; Warp (32) -&gt; Block -&gt; Grid. Explain how the compiler and GPU map blocks onto Streaming Multiprocessors (SMs).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arithmetic of my_i. Give a concrete example: Block size 8, Block index 2, Thread index 3 -&gt; my_i = 8*2 + 3 = 19. Explain why the ceiling formula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memory pyramid. Emphasize register pressure: if a kernel uses too many registers per thread, fewer warps fit on the SM, decreasing occupancy.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difference: Explicit requires managing two sets of pointers (h_x and d_x) and copying across PCIe. Unified memory creates one pointer; the driver migrates 4KB pages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qualifiers carefully. Note that __global__ functions cannot return values directly; output must be passed via pointers in global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Program 6.1 and 6.2. Show how cudaDeviceSynchronize() is necessary so the Host waits for the GPU printf buffer to flush before exiting main().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Program 6.3/6.9 in detail. This is the bedrock example for understanding thread coordinates and boundary 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warp scheduler works. Note that warp size 32 is a hardware constant. Emphasize that blockDim should always be a multiple of 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Table 6.1 from Pacheco. Show that branch divergence within a warp serializes execution paths and cuts efficiency in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Trapezoidal rule mathematical derivation. Note how the composite formula works, and how it translates to CUDA threads.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data races clearly: read-modify-write interleaving. Then show how atomicAdd fixes correctness but creates a hardware queue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Table 6.5. Show why atomicAdd to a single variable degrades as thread count rises. Introduce the motivation for tree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binary tree reduction step-by-step. Show how 1024 threads collapse to 1 sum in only 10 iterations. Explain why this dramatically cuts atomic contention.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two rules of __syncthreads(): 1) Prevents RAW hazards. 2) Must be called universally across the block, never inside a conditional where only a subset reaches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Table 6.9. Show how Stride 32 causes all 32 threads to hit Bank 0 simultaneously, forcing 32 serial memory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Program 6.15. Highlight that 32 threads reduce to 1 in exactly 5 clock cycles using __shfl_down_sync. Contrast this with shared memory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 the two-tier reduction: Tier 1 does warp shuffles across all 32 warps. Tier 2 puts the 32 warp sums into a tiny shared memory buffer, and Warp 0 sums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6.7 is the grand summary of Pacheco Chapter 6. Walk through the numbers and explain why each step made the code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over the top 5 exam questions. Emphasize the four-part answering strategy: Diagram + Formulas + Code + Hardware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concludes the Module 5 Masterclass presentation. All concepts from Pacheco Chapter 6 and the VTU BCS702 syllabus have been systematically mastered.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onsolas"/>
              </a:defRPr>
            </a:pPr>
            <a:r>
              <a:t>BCS702 // MODULE 5 MASTERCLASS</a:t>
            </a:r>
          </a:p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CUDA Parallel Programming</a:t>
            </a:r>
          </a:p>
          <a:p>
            <a:pPr>
              <a:defRPr sz="2000">
                <a:solidFill>
                  <a:srgbClr val="10B981"/>
                </a:solidFill>
                <a:latin typeface="Segoe UI"/>
              </a:defRPr>
            </a:pPr>
            <a:r>
              <a:t>From Silicon Microarchitecture to Warp Shuffles &amp; Peak Performance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Complete Conceptual Guide for Teaching, 2-Hour Sessions &amp; 100% Exam Mastery</a:t>
            </a:r>
            <a:br/>
            <a:r>
              <a:t>Reference: Peter S. Pacheco &amp; Matthew Malensek, Chapter 6 (2nd Edition)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120640"/>
            <a:ext cx="2377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</a:defRPr>
            </a:pPr>
            <a:r>
              <a:t>20 KEY CONCEPTS</a:t>
            </a:r>
            <a:br/>
            <a:r>
              <a:t>Full Module 5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5120640"/>
            <a:ext cx="2377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0B981"/>
                </a:solidFill>
              </a:defRPr>
            </a:pPr>
            <a:r>
              <a:t>7 TEXTBOOK CODES</a:t>
            </a:r>
            <a:br/>
            <a:r>
              <a:t>Programs 6.1 through 6.15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120640"/>
            <a:ext cx="2377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59E0B"/>
                </a:solidFill>
              </a:defRPr>
            </a:pPr>
            <a:r>
              <a:t>4 TRAPS &amp; BOTTLENECKS</a:t>
            </a:r>
            <a:br/>
            <a:r>
              <a:t>Divergence, Races, Bank, PCIe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5120640"/>
            <a:ext cx="2377440" cy="9144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855F7"/>
                </a:solidFill>
              </a:defRPr>
            </a:pPr>
            <a:r>
              <a:t>VTU QUESTION BANK</a:t>
            </a:r>
            <a:br/>
            <a:r>
              <a:t>10-Mark Model Answers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 // ARCHITECTURE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Flynn's Classical Taxonomy vs. NVIDIA's SIMT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GPUs are not just vector SIMD engines—they are Single Instruction, Multiple Threads (SIMT).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🏛️ FLYNN'S CLASSICAL TAXONOMY (1966)</a:t>
            </a:r>
          </a:p>
          <a:p>
            <a:r>
              <a:rPr b="1" sz="1050">
                <a:solidFill>
                  <a:srgbClr val="FFFFFF"/>
                </a:solidFill>
              </a:rPr>
              <a:t>SISD (Single Instruction, Single Data): </a:t>
            </a:r>
            <a:r>
              <a:rPr sz="1000">
                <a:solidFill>
                  <a:srgbClr val="E2E8F0"/>
                </a:solidFill>
              </a:rPr>
              <a:t>Classic sequential CPU core (Von Neumann). 1 instruction stream acts on 1 data stream.</a:t>
            </a:r>
          </a:p>
          <a:p>
            <a:r>
              <a:rPr b="1" sz="1050">
                <a:solidFill>
                  <a:srgbClr val="FFFFFF"/>
                </a:solidFill>
              </a:rPr>
              <a:t>SIMD (Single Instruction, Multiple Data): </a:t>
            </a:r>
            <a:r>
              <a:rPr sz="1000">
                <a:solidFill>
                  <a:srgbClr val="E2E8F0"/>
                </a:solidFill>
              </a:rPr>
              <a:t>Vector processors (AVX-512, SSE). 1 vector instruction operates synchronously on rigid vector registers. Pipelined locks.</a:t>
            </a:r>
          </a:p>
          <a:p>
            <a:r>
              <a:rPr b="1" sz="1050">
                <a:solidFill>
                  <a:srgbClr val="FFFFFF"/>
                </a:solidFill>
              </a:rPr>
              <a:t>MISD (Multiple Instruction, Single Data): </a:t>
            </a:r>
            <a:r>
              <a:rPr sz="1000">
                <a:solidFill>
                  <a:srgbClr val="E2E8F0"/>
                </a:solidFill>
              </a:rPr>
              <a:t>Rare redundant space/fault-tolerant avionics systems. Multiple units verify 1 stream.</a:t>
            </a:r>
          </a:p>
          <a:p>
            <a:r>
              <a:rPr b="1" sz="1050">
                <a:solidFill>
                  <a:srgbClr val="FFFFFF"/>
                </a:solidFill>
              </a:rPr>
              <a:t>MIMD (Multiple Instruction, Multiple Data): </a:t>
            </a:r>
            <a:r>
              <a:rPr sz="1000">
                <a:solidFill>
                  <a:srgbClr val="E2E8F0"/>
                </a:solidFill>
              </a:rPr>
              <a:t>Multi-core CPUs &amp; clusters. Independent cores run distinct program counters asynchronously.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THE NVIDIA BREAKTHROUGH: SIMT (Single Instruction, Multiple Threads)</a:t>
            </a:r>
          </a:p>
          <a:p>
            <a:r>
              <a:rPr b="1" sz="1050">
                <a:solidFill>
                  <a:srgbClr val="FFFFFF"/>
                </a:solidFill>
              </a:rPr>
              <a:t>Instruction Broadcaster: </a:t>
            </a:r>
            <a:r>
              <a:rPr sz="1000">
                <a:solidFill>
                  <a:srgbClr val="E2E8F0"/>
                </a:solidFill>
              </a:rPr>
              <a:t>A single hardware Warp Scheduler issues 1 instruction to 32 parallel physical execution pipelines simultaneously.</a:t>
            </a:r>
          </a:p>
          <a:p>
            <a:r>
              <a:rPr b="1" sz="1050">
                <a:solidFill>
                  <a:srgbClr val="FFFFFF"/>
                </a:solidFill>
              </a:rPr>
              <a:t>Independent Thread State: </a:t>
            </a:r>
            <a:r>
              <a:rPr sz="1000">
                <a:solidFill>
                  <a:srgbClr val="E2E8F0"/>
                </a:solidFill>
              </a:rPr>
              <a:t>Unlike SIMD vector lanes, each CUDA thread maintains its OWN private register file, private stack, and unique thread index (`threadIdx.x`).</a:t>
            </a:r>
          </a:p>
          <a:p>
            <a:r>
              <a:rPr b="1" sz="1050">
                <a:solidFill>
                  <a:srgbClr val="FFFFFF"/>
                </a:solidFill>
              </a:rPr>
              <a:t>Dynamic Branch Independence: </a:t>
            </a:r>
            <a:r>
              <a:rPr sz="1000">
                <a:solidFill>
                  <a:srgbClr val="E2E8F0"/>
                </a:solidFill>
              </a:rPr>
              <a:t>Threads can diverge on conditional branches (`if-else`). Hardware masks inactive lanes, serializes divergent paths, and reconverges automatically.</a:t>
            </a:r>
          </a:p>
          <a:p>
            <a:r>
              <a:rPr b="1" sz="1050">
                <a:solidFill>
                  <a:srgbClr val="FFFFFF"/>
                </a:solidFill>
              </a:rPr>
              <a:t>Massive Latency Hiding: </a:t>
            </a:r>
            <a:r>
              <a:rPr sz="1000">
                <a:solidFill>
                  <a:srgbClr val="E2E8F0"/>
                </a:solidFill>
              </a:rPr>
              <a:t>When a warp stalls waiting for memory (400 cycles), the SM immediately context-switches to another ready warp in ZERO overhead cycles!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In VTU exams, clearly distinguish SIMD from SIMT: SIMD exposes vector register widths directly to the ISA; SIMT abstracts parallelism into scalar threads where hardware groups 32 threads into warps.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2 // SILICON MICROARCHITECTURE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CPU vs. GPU Hardware: Latency vs. Throughput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CPUs use silicon to minimize latency for 1 thread; GPUs use silicon to maximize aggregate compute for 10,000 threads.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🖥️ MULTI-CORE CPU (LATENCY-ORIENTED)</a:t>
            </a:r>
          </a:p>
          <a:p>
            <a:r>
              <a:rPr b="1" sz="1050">
                <a:solidFill>
                  <a:srgbClr val="FFFFFF"/>
                </a:solidFill>
              </a:rPr>
              <a:t>Design Philosophy: </a:t>
            </a:r>
            <a:r>
              <a:rPr sz="1000">
                <a:solidFill>
                  <a:srgbClr val="E2E8F0"/>
                </a:solidFill>
              </a:rPr>
              <a:t>Execute sequential code as fast as physically possible (~4.5 GHz clock speed).</a:t>
            </a:r>
          </a:p>
          <a:p>
            <a:r>
              <a:rPr b="1" sz="1050">
                <a:solidFill>
                  <a:srgbClr val="FFFFFF"/>
                </a:solidFill>
              </a:rPr>
              <a:t>Silicon Allocation: </a:t>
            </a:r>
            <a:r>
              <a:rPr sz="1000">
                <a:solidFill>
                  <a:srgbClr val="E2E8F0"/>
                </a:solidFill>
              </a:rPr>
              <a:t>~80% of die area is Cache (L1/L2/L3) and complex control logic; only ~20% is actual ALUs!</a:t>
            </a:r>
          </a:p>
          <a:p>
            <a:r>
              <a:rPr b="1" sz="1050">
                <a:solidFill>
                  <a:srgbClr val="FFFFFF"/>
                </a:solidFill>
              </a:rPr>
              <a:t>Complex Hardware Units: </a:t>
            </a:r>
            <a:r>
              <a:rPr sz="1000">
                <a:solidFill>
                  <a:srgbClr val="E2E8F0"/>
                </a:solidFill>
              </a:rPr>
              <a:t>Branch predictors, out-of-order superscalar execution engines, deep pipeline speculative dispatch.</a:t>
            </a:r>
          </a:p>
          <a:p>
            <a:r>
              <a:rPr b="1" sz="1050">
                <a:solidFill>
                  <a:srgbClr val="FFFFFF"/>
                </a:solidFill>
              </a:rPr>
              <a:t>Concurrency: </a:t>
            </a:r>
            <a:r>
              <a:rPr sz="1000">
                <a:solidFill>
                  <a:srgbClr val="E2E8F0"/>
                </a:solidFill>
              </a:rPr>
              <a:t>Small number of heavy, powerful threads (4 to 64 hardware threads). High context-switch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NVIDIA GPU (THROUGHPUT-ORIENTED)</a:t>
            </a:r>
          </a:p>
          <a:p>
            <a:r>
              <a:rPr b="1" sz="1050">
                <a:solidFill>
                  <a:srgbClr val="FFFFFF"/>
                </a:solidFill>
              </a:rPr>
              <a:t>Design Philosophy: </a:t>
            </a:r>
            <a:r>
              <a:rPr sz="1000">
                <a:solidFill>
                  <a:srgbClr val="E2E8F0"/>
                </a:solidFill>
              </a:rPr>
              <a:t>Maximize total floating-point operations per second across massive parallel data sets.</a:t>
            </a:r>
          </a:p>
          <a:p>
            <a:r>
              <a:rPr b="1" sz="1050">
                <a:solidFill>
                  <a:srgbClr val="FFFFFF"/>
                </a:solidFill>
              </a:rPr>
              <a:t>Silicon Allocation: </a:t>
            </a:r>
            <a:r>
              <a:rPr sz="1000">
                <a:solidFill>
                  <a:srgbClr val="E2E8F0"/>
                </a:solidFill>
              </a:rPr>
              <a:t>&gt;80% of die area is dedicated directly to compute ALUs (CUDA Cores, Tensor Cores, FP32/FP64 pipelines).</a:t>
            </a:r>
          </a:p>
          <a:p>
            <a:r>
              <a:rPr b="1" sz="1050">
                <a:solidFill>
                  <a:srgbClr val="FFFFFF"/>
                </a:solidFill>
              </a:rPr>
              <a:t>Streamlined Control: </a:t>
            </a:r>
            <a:r>
              <a:rPr sz="1000">
                <a:solidFill>
                  <a:srgbClr val="E2E8F0"/>
                </a:solidFill>
              </a:rPr>
              <a:t>Minimal branch prediction, no speculative out-of-order engine. Hundreds of simple in-order cores.</a:t>
            </a:r>
          </a:p>
          <a:p>
            <a:r>
              <a:rPr b="1" sz="1050">
                <a:solidFill>
                  <a:srgbClr val="FFFFFF"/>
                </a:solidFill>
              </a:rPr>
              <a:t>Concurrency: </a:t>
            </a:r>
            <a:r>
              <a:rPr sz="1000">
                <a:solidFill>
                  <a:srgbClr val="E2E8F0"/>
                </a:solidFill>
              </a:rPr>
              <a:t>Massive thread counts (10,000 to 100,000+ resident threads). Instantaneous zero-cycle warp context switching.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Pacheco Chapter 6 Key Quote: 'CPUs are designed to minimize the latency of a single thread, while GPUs are designed to maximize the total throughput of all threads.'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3 // HETEROGENEOUS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Heterogeneous Architecture: Host, Device &amp; The PCIe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The CPU (Host) directs the GPU (Device). The PCIe bus is the narrow bridge that dictates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🌐 THE HOST-DEVICE DUALITY &amp; HARDWARE INTERCONNECT</a:t>
            </a:r>
          </a:p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  +-----------------------------+        PCIe Gen4 x16 Bus        +-----------------------------------+</a:t>
            </a:r>
            <a:br/>
            <a:r>
              <a:t>  |        HOST (CPU)           |   ===========================   |          DEVICE (GPU)             |</a:t>
            </a:r>
            <a:br/>
            <a:r>
              <a:t>  |  • Multi-Core CPU Core      |   Bandwidth: ~31.5 GB/s         |  • Array of SMs (Compute)         |</a:t>
            </a:r>
            <a:br/>
            <a:r>
              <a:t>  |  • System RAM (DDR4/DDR5)   |   Latency:   ~10,000 Cycles!    |  • Device Global VRAM (GDDR6X)    |</a:t>
            </a:r>
            <a:br/>
            <a:r>
              <a:t>  |  • Controls Program Flow    |   ---------------------------   |  • High Bandwidth: ~900 GB/s      |</a:t>
            </a:r>
            <a:br/>
            <a:r>
              <a:t>  |  • Allocates GPU Buffers    |    [THE CRITICAL BOTTLENECK]    |  • Executes Kernel Grid           |</a:t>
            </a:r>
            <a:br/>
            <a:r>
              <a:t>  +-----------------------------+                                 +-----------------------------------+</a:t>
            </a:r>
            <a:br/>
          </a:p>
          <a:p>
            <a:r>
              <a:rPr b="1" sz="1050">
                <a:solidFill>
                  <a:srgbClr val="FFFFFF"/>
                </a:solidFill>
              </a:rPr>
              <a:t>• Host Code: </a:t>
            </a:r>
            <a:r>
              <a:rPr sz="1000">
                <a:solidFill>
                  <a:srgbClr val="E2E8F0"/>
                </a:solidFill>
              </a:rPr>
              <a:t>Runs on CPU, standard C/C++ compiler (gcc/clang). Allocates device memory, transfers input arrays, launches GPU kernels.</a:t>
            </a:r>
          </a:p>
          <a:p>
            <a:r>
              <a:rPr b="1" sz="1050">
                <a:solidFill>
                  <a:srgbClr val="FFFFFF"/>
                </a:solidFill>
              </a:rPr>
              <a:t>• Device Code: </a:t>
            </a:r>
            <a:r>
              <a:rPr sz="1000">
                <a:solidFill>
                  <a:srgbClr val="E2E8F0"/>
                </a:solidFill>
              </a:rPr>
              <a:t>Runs on GPU Streaming Multiprocessors, compiled by NVIDIA NVCC. Executes parallel thread functions (__global__).</a:t>
            </a:r>
          </a:p>
          <a:p>
            <a:r>
              <a:rPr b="1" sz="1050">
                <a:solidFill>
                  <a:srgbClr val="FFFFFF"/>
                </a:solidFill>
              </a:rPr>
              <a:t>• The PCIe Rule: </a:t>
            </a:r>
            <a:r>
              <a:rPr sz="1000">
                <a:solidFill>
                  <a:srgbClr val="E2E8F0"/>
                </a:solidFill>
              </a:rPr>
              <a:t>Device VRAM bandwidth (~900 GB/s) is 30x faster than PCIe transfer speed (~31.5 GB/s). To achieve true speedup, keep intermediate data on the GPU across multiple kernel calls!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EF4444"/>
                </a:solidFill>
                <a:latin typeface="Segoe UI"/>
              </a:rPr>
              <a:t>💡 PERFORMANCE WARNING: </a:t>
            </a:r>
            <a:r>
              <a:rPr sz="1100">
                <a:solidFill>
                  <a:srgbClr val="E2E8F0"/>
                </a:solidFill>
                <a:latin typeface="Segoe UI"/>
              </a:rPr>
              <a:t>Amdahl's Law Trap: If PCIe data transfer takes 90% of execution time, making kernel compute infinitely fast only yields a 1.1x total speedup! Minimize cudaMemcpy transfers.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4 // EXECUTION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CUDA Execution Hierarchy: Threads, Warps, Blocks &amp;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CUDA maps scalable software abstractions (Grid &amp; Blocks) into rigid hardware reality (Warps &amp; SMs).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📐 SOFTWARE ABSTRACTION HIERARCHY</a:t>
            </a:r>
          </a:p>
          <a:p>
            <a:r>
              <a:rPr b="1" sz="1050">
                <a:solidFill>
                  <a:srgbClr val="FFFFFF"/>
                </a:solidFill>
              </a:rPr>
              <a:t>1. Thread: </a:t>
            </a:r>
            <a:r>
              <a:rPr sz="1000">
                <a:solidFill>
                  <a:srgbClr val="E2E8F0"/>
                </a:solidFill>
              </a:rPr>
              <a:t>The basic sequential worker. Has private register file, private local memory, and 3D index `threadIdx`.</a:t>
            </a:r>
          </a:p>
          <a:p>
            <a:r>
              <a:rPr b="1" sz="1050">
                <a:solidFill>
                  <a:srgbClr val="FFFFFF"/>
                </a:solidFill>
              </a:rPr>
              <a:t>2. Warp (32 Threads): </a:t>
            </a:r>
            <a:r>
              <a:rPr sz="1000">
                <a:solidFill>
                  <a:srgbClr val="E2E8F0"/>
                </a:solidFill>
              </a:rPr>
              <a:t>The atomic hardware execution unit. 32 consecutive threads executed simultaneously in SIMT lockstep by an SM.</a:t>
            </a:r>
          </a:p>
          <a:p>
            <a:r>
              <a:rPr b="1" sz="1050">
                <a:solidFill>
                  <a:srgbClr val="FFFFFF"/>
                </a:solidFill>
              </a:rPr>
              <a:t>3. Thread Block: </a:t>
            </a:r>
            <a:r>
              <a:rPr sz="1000">
                <a:solidFill>
                  <a:srgbClr val="E2E8F0"/>
                </a:solidFill>
              </a:rPr>
              <a:t>A cooperative cluster of up to 1024 threads. Shared memory (`__shared__`) and barrier synchronization (`__syncthreads()`) only work within a single block!</a:t>
            </a:r>
          </a:p>
          <a:p>
            <a:r>
              <a:rPr b="1" sz="1050">
                <a:solidFill>
                  <a:srgbClr val="FFFFFF"/>
                </a:solidFill>
              </a:rPr>
              <a:t>4. Grid: </a:t>
            </a:r>
            <a:r>
              <a:rPr sz="1000">
                <a:solidFill>
                  <a:srgbClr val="E2E8F0"/>
                </a:solidFill>
              </a:rPr>
              <a:t>The complete collection of blocks launched by a kernel. Blocks in a grid run completely independently in any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⚙️ HARDWARE PHYSICAL MAPPING (SM)</a:t>
            </a:r>
          </a:p>
          <a:p>
            <a:r>
              <a:rPr b="1" sz="1050">
                <a:solidFill>
                  <a:srgbClr val="FFFFFF"/>
                </a:solidFill>
              </a:rPr>
              <a:t>Streaming Multiprocessor (SM): </a:t>
            </a:r>
            <a:r>
              <a:rPr sz="1000">
                <a:solidFill>
                  <a:srgbClr val="E2E8F0"/>
                </a:solidFill>
              </a:rPr>
              <a:t>The GPU building block containing CUDA cores, Warp Schedulers, Register Files, and Shared Memory SRAM.</a:t>
            </a:r>
          </a:p>
          <a:p>
            <a:r>
              <a:rPr b="1" sz="1050">
                <a:solidFill>
                  <a:srgbClr val="FFFFFF"/>
                </a:solidFill>
              </a:rPr>
              <a:t>Block Assignment: </a:t>
            </a:r>
            <a:r>
              <a:rPr sz="1000">
                <a:solidFill>
                  <a:srgbClr val="E2E8F0"/>
                </a:solidFill>
              </a:rPr>
              <a:t>Each Thread Block is assigned to exactly ONE SM. Multiple blocks can reside on the same SM depending on registers/shared memory resources.</a:t>
            </a:r>
          </a:p>
          <a:p>
            <a:r>
              <a:rPr b="1" sz="1050">
                <a:solidFill>
                  <a:srgbClr val="FFFFFF"/>
                </a:solidFill>
              </a:rPr>
              <a:t>Hardware Scalability: </a:t>
            </a:r>
            <a:r>
              <a:rPr sz="1000">
                <a:solidFill>
                  <a:srgbClr val="E2E8F0"/>
                </a:solidFill>
              </a:rPr>
              <a:t>Because blocks are independent, a GPU with 128 SMs runs 8x faster than a GPU with 16 SMs without changing 1 line of CUDA code!</a:t>
            </a:r>
          </a:p>
          <a:p>
            <a:r>
              <a:rPr b="1" sz="1050">
                <a:solidFill>
                  <a:srgbClr val="FFFFFF"/>
                </a:solidFill>
              </a:rPr>
              <a:t>Limitation: </a:t>
            </a:r>
            <a:r>
              <a:rPr sz="1000">
                <a:solidFill>
                  <a:srgbClr val="E2E8F0"/>
                </a:solidFill>
              </a:rPr>
              <a:t>A single block cannot be split across multiple physical SMs.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Crucial Exam Rule: Thread synchronization (__syncthreads()) and Shared Memory (__shared__) CANNOT cross block boundaries! There is no global inter-block barrier in standard CUDA kernels.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5 // THREAD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Thread Coordinates &amp; Linear Rank Mapping (Sections 6.5 &amp; 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Every thread computes its own unique memory index `my_i` using built-in CUDA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🔢 1D LINEAR RANK FORMULAS</a:t>
            </a:r>
          </a:p>
          <a:p>
            <a:r>
              <a:rPr b="1" sz="1050">
                <a:solidFill>
                  <a:srgbClr val="FFFFFF"/>
                </a:solidFill>
              </a:rPr>
              <a:t>The Master Index Formula:
</a:t>
            </a:r>
            <a:r>
              <a:rPr sz="1000">
                <a:solidFill>
                  <a:srgbClr val="10B981"/>
                </a:solidFill>
              </a:rPr>
              <a:t>int my_i = blockDim.x * blockIdx.x + threadIdx.x;</a:t>
            </a:r>
          </a:p>
          <a:p>
            <a:r>
              <a:rPr b="1" sz="1050">
                <a:solidFill>
                  <a:srgbClr val="FFFFFF"/>
                </a:solidFill>
              </a:rPr>
              <a:t>Variables Defined:
</a:t>
            </a:r>
            <a:r>
              <a:rPr sz="1000">
                <a:solidFill>
                  <a:srgbClr val="10B981"/>
                </a:solidFill>
              </a:rPr>
              <a:t>• `blockDim.x`: Total threads per block (e.g., 256)
• `blockIdx.x`: Index of current block (0, 1, 2...)
• `threadIdx.x`: Local thread ID within block (0 to blockDim.x - 1)</a:t>
            </a:r>
          </a:p>
          <a:p>
            <a:r>
              <a:rPr b="1" sz="1050">
                <a:solidFill>
                  <a:srgbClr val="FFFFFF"/>
                </a:solidFill>
              </a:rPr>
              <a:t>Grid Sizing Ceiling Formula:
</a:t>
            </a:r>
            <a:r>
              <a:rPr sz="1000">
                <a:solidFill>
                  <a:srgbClr val="10B981"/>
                </a:solidFill>
              </a:rPr>
              <a:t>int grid_size = (n + block_size - 1) / block_size;
Guarantees enough blocks are launched to cover all `n` elements without integer truncation!</a:t>
            </a:r>
          </a:p>
          <a:p>
            <a:r>
              <a:rPr b="1" sz="1050">
                <a:solidFill>
                  <a:srgbClr val="FFFFFF"/>
                </a:solidFill>
              </a:rPr>
              <a:t>Boundary Guard:
</a:t>
            </a:r>
            <a:r>
              <a:rPr sz="1000">
                <a:solidFill>
                  <a:srgbClr val="10B981"/>
                </a:solidFill>
              </a:rPr>
              <a:t>if (my_i &lt; n) { ... }
Prevents threads in the final block from accessing unallocated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🔲 2D MATRIX COORDINATE MAPPING</a:t>
            </a:r>
          </a:p>
          <a:p>
            <a:r>
              <a:rPr b="1" sz="1050">
                <a:solidFill>
                  <a:srgbClr val="FFFFFF"/>
                </a:solidFill>
              </a:rPr>
              <a:t>Row Coordinate Formula:
</a:t>
            </a:r>
            <a:r>
              <a:rPr sz="1000">
                <a:solidFill>
                  <a:srgbClr val="10B981"/>
                </a:solidFill>
              </a:rPr>
              <a:t>int row = blockDim.y * blockIdx.y + threadIdx.y;</a:t>
            </a:r>
          </a:p>
          <a:p>
            <a:r>
              <a:rPr b="1" sz="1050">
                <a:solidFill>
                  <a:srgbClr val="FFFFFF"/>
                </a:solidFill>
              </a:rPr>
              <a:t>Column Coordinate Formula:
</a:t>
            </a:r>
            <a:r>
              <a:rPr sz="1000">
                <a:solidFill>
                  <a:srgbClr val="10B981"/>
                </a:solidFill>
              </a:rPr>
              <a:t>int col = blockDim.x * blockIdx.x + threadIdx.x;</a:t>
            </a:r>
          </a:p>
          <a:p>
            <a:r>
              <a:rPr b="1" sz="1050">
                <a:solidFill>
                  <a:srgbClr val="FFFFFF"/>
                </a:solidFill>
              </a:rPr>
              <a:t>Flattened 1D Memory Offset:
</a:t>
            </a:r>
            <a:r>
              <a:rPr sz="1000">
                <a:solidFill>
                  <a:srgbClr val="10B981"/>
                </a:solidFill>
              </a:rPr>
              <a:t>int offset = row * width + col;</a:t>
            </a:r>
          </a:p>
          <a:p>
            <a:r>
              <a:rPr b="1" sz="1050">
                <a:solidFill>
                  <a:srgbClr val="FFFFFF"/>
                </a:solidFill>
              </a:rPr>
              <a:t>Kernel Launch Syntax (2D):
</a:t>
            </a:r>
            <a:r>
              <a:rPr sz="1000">
                <a:solidFill>
                  <a:srgbClr val="10B981"/>
                </a:solidFill>
              </a:rPr>
              <a:t>dim3 block(16, 16); // 256 threads per block
dim3 grid((width + 15)/16, (height + 15)/16);
MatAdd&lt;&lt;&lt;grid, block&gt;&gt;&gt;(d_C, d_A, d_B, width, height);</a:t>
            </a:r>
          </a:p>
          <a:p>
            <a:r>
              <a:rPr b="1" sz="1050">
                <a:solidFill>
                  <a:srgbClr val="FFFFFF"/>
                </a:solidFill>
              </a:rPr>
              <a:t>2D Boundary Check:
</a:t>
            </a:r>
            <a:r>
              <a:rPr sz="1000">
                <a:solidFill>
                  <a:srgbClr val="10B981"/>
                </a:solidFill>
              </a:rPr>
              <a:t>if (row &lt; height &amp;&amp; col &lt; width) { d_C[offset] = ...;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Always write the ceiling formula in 10-mark exam answers: (n + B - 1) / B. If you write n / B, integer division drops the remainder and the last partial block is omitted, causing data loss!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6 // MEMORY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NVIDIA GPU Memory Hierarchy: Scopes, Lifetimes &amp; Access Latencies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The fastest memory (Registers) is 400x faster than Global VRAM. Choosing the right memory tier dictates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📊 COMPREHENSIVE MEMORY TIER ARCHITECTURE COMPARISON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Memory Type      | Location | Scope           | Lifetime         | Latency (Cycles)  | Bandwidth / Notes</a:t>
            </a:r>
            <a:br/>
            <a:r>
              <a:t>-----------------+----------+-----------------+------------------+-------------------+-----------------------------------</a:t>
            </a:r>
            <a:br/>
            <a:r>
              <a:t>Registers        | On-Chip  | Single Thread   | Thread Lifetime  | ~1 Cycle          | Ultra-fast SRAM, 64K regs per SM</a:t>
            </a:r>
            <a:br/>
            <a:r>
              <a:t>Shared Memory    | On-Chip  | Thread Block    | Block Lifetime   | ~20 - 30 Cycles   | User-managed cache (Program 6.14)</a:t>
            </a:r>
            <a:br/>
            <a:r>
              <a:t>Constant Memory  | On-Chip  | All Threads Grid| Application      | ~1 Cycle (Cached) | 64 KB total, broadcast on uniform</a:t>
            </a:r>
            <a:br/>
            <a:r>
              <a:t>L1 / L2 Cache    | On-Chip  | All SMs         | Application      | ~30 - 200 Cycles  | Hardware managed transparent cache</a:t>
            </a:r>
            <a:br/>
            <a:r>
              <a:t>Global VRAM      | Off-Chip | All Threads +Host| Application     | ~400 - 800 Cycles | Huge capacity (8-80 GB), slow</a:t>
            </a:r>
            <a:br/>
            <a:r>
              <a:t>Host RAM (PCIe)  | Host PC  | CPU + UVM Pages | Host Application | ~10,000+ Cycles   | Over PCIe bus (~31.5 GB/s bottleneck)</a:t>
            </a:r>
            <a:br/>
          </a:p>
          <a:p>
            <a:r>
              <a:rPr b="1" sz="1050">
                <a:solidFill>
                  <a:srgbClr val="FFFFFF"/>
                </a:solidFill>
              </a:rPr>
              <a:t>• Shared Memory (__shared__): </a:t>
            </a:r>
            <a:r>
              <a:rPr sz="1000">
                <a:solidFill>
                  <a:srgbClr val="E2E8F0"/>
                </a:solidFill>
              </a:rPr>
              <a:t>Resides physically inside the SM alongside L1 cache. Shared across threads in the SAME block. Extremely low latency (~25 cycles).</a:t>
            </a:r>
          </a:p>
          <a:p>
            <a:r>
              <a:rPr b="1" sz="1050">
                <a:solidFill>
                  <a:srgbClr val="FFFFFF"/>
                </a:solidFill>
              </a:rPr>
              <a:t>• Global Memory (float*): </a:t>
            </a:r>
            <a:r>
              <a:rPr sz="1000">
                <a:solidFill>
                  <a:srgbClr val="E2E8F0"/>
                </a:solidFill>
              </a:rPr>
              <a:t>High capacity DRAM located off-chip. Accessible by all threads and Host. High latency (~400 cycles) requires coalesced memory accesses.</a:t>
            </a:r>
          </a:p>
          <a:p>
            <a:r>
              <a:rPr b="1" sz="1050">
                <a:solidFill>
                  <a:srgbClr val="FFFFFF"/>
                </a:solidFill>
              </a:rPr>
              <a:t>• Latency Hiding: </a:t>
            </a:r>
            <a:r>
              <a:rPr sz="1000">
                <a:solidFill>
                  <a:srgbClr val="E2E8F0"/>
                </a:solidFill>
              </a:rPr>
              <a:t>The GPU hides global memory latency by context-switching between warps. When Warp A waits for global load, Warp B executes ALUs.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Exam Checklist: Be prepared to state the Scope, Lifetime, and Location for: Registers (Thread/On-chip), Shared (Block/On-chip), and Global (Grid+Host/Off-chip).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7 // MEMORY MANAGEMENT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Explicit Memory Management (Program 6.9) vs. Unified Memory (Program 6.6)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Standard CUDA uses explicit pointer mirrors; Unified Memory provides a single virtual pointer managed by page migration.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📦 EXPLICIT TRANSFERS (Program 6.9)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float *h_a, *d_a;</a:t>
            </a:r>
            <a:br/>
            <a:r>
              <a:t>size_t bytes = n * sizeof(float);</a:t>
            </a:r>
            <a:br/>
            <a:r>
              <a:t>h_a = (float*) malloc(bytes);          // Host RAM</a:t>
            </a:r>
            <a:br/>
            <a:r>
              <a:t>cudaMalloc(&amp;d_a, bytes);               // Device VRAM</a:t>
            </a:r>
            <a:br/>
            <a:br/>
            <a:r>
              <a:t>// Transfer Host to Device across PCIe</a:t>
            </a:r>
            <a:br/>
            <a:r>
              <a:t>cudaMemcpy(d_a, h_a, bytes, cudaMemcpyHostToDevice);</a:t>
            </a:r>
            <a:br/>
            <a:br/>
            <a:r>
              <a:t>VecAdd&lt;&lt;&lt;grid, block&gt;&gt;&gt;(d_a, n);      // Launch GPU</a:t>
            </a:r>
            <a:br/>
            <a:br/>
            <a:r>
              <a:t>// Transfer Device to Host back</a:t>
            </a:r>
            <a:br/>
            <a:r>
              <a:t>cudaMemcpy(h_a, d_a, bytes, cudaMemcpyDeviceToHost);</a:t>
            </a:r>
            <a:br/>
            <a:br/>
            <a:r>
              <a:t>cudaFree(d_a); free(h_a);             // Deallocate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🔮 UNIFIED MEMORY (Program 6.6)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float *a;</a:t>
            </a:r>
            <a:br/>
            <a:r>
              <a:t>size_t bytes = n * sizeof(float);</a:t>
            </a:r>
            <a:br/>
            <a:r>
              <a:t>// Single Unified Virtual Memory pointer</a:t>
            </a:r>
            <a:br/>
            <a:r>
              <a:t>cudaMallocManaged(&amp;a, bytes);</a:t>
            </a:r>
            <a:br/>
            <a:br/>
            <a:r>
              <a:t>// Initialized directly on CPU Host</a:t>
            </a:r>
            <a:br/>
            <a:r>
              <a:t>for (int i = 0; i &lt; n; i++) a[i] = 1.0f;</a:t>
            </a:r>
            <a:br/>
            <a:br/>
            <a:r>
              <a:t>VecAdd&lt;&lt;&lt;grid, block&gt;&gt;&gt;(a, n);</a:t>
            </a:r>
            <a:br/>
            <a:br/>
            <a:r>
              <a:t>// MUST synchronize Host before reading!</a:t>
            </a:r>
            <a:br/>
            <a:r>
              <a:t>cudaDeviceSynchronize();</a:t>
            </a:r>
            <a:br/>
            <a:br/>
            <a:r>
              <a:t>// Host reads result directly from 'a'</a:t>
            </a:r>
            <a:br/>
            <a:r>
              <a:t>cudaFree(a);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Common Bug Alert: When using cudaMallocManaged, if you omit `cudaDeviceSynchronize()` before CPU accesses the array, you get garbage or race conditions because kernel launch is asynchronous!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8 // CUDA C++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Function Qualifiers &amp; Execution Configuration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Function execution target and caller permissions are declared via __global__, __device__, and __host__.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🏷️ CUDA FUNCTION EXECUTION QUALIFIERS</a:t>
            </a:r>
          </a:p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Qualifier      | Executed On | Callable From   | Return Type | Description / Purpose</a:t>
            </a:r>
            <a:br/>
            <a:r>
              <a:t>---------------+-------------+-----------------+-------------+-------------------------------------------------</a:t>
            </a:r>
            <a:br/>
            <a:r>
              <a:t>__global__     | Device(GPU) | Host (or Device)| void        | Kernel entry point. Launched via &lt;&lt;&lt;grid, block&gt;&gt;&gt;.</a:t>
            </a:r>
            <a:br/>
            <a:r>
              <a:t>__device__     | Device(GPU) | Device Only     | Any type    | Helper function executed by threads on GPU cores.</a:t>
            </a:r>
            <a:br/>
            <a:r>
              <a:t>__host__       | Host (CPU)  | Host Only       | Any type    | Standard C/C++ function executed on CPU.</a:t>
            </a:r>
            <a:br/>
            <a:r>
              <a:t>__host__ __device__| Dual     | Host and Device | Any type    | Compiled for BOTH architectures (e.g. math utility).</a:t>
            </a:r>
            <a:br/>
          </a:p>
          <a:p>
            <a:r>
              <a:rPr b="1" sz="1050">
                <a:solidFill>
                  <a:srgbClr val="FFFFFF"/>
                </a:solidFill>
              </a:rPr>
              <a:t>• Execution Configuration Syntax: </a:t>
            </a:r>
            <a:r>
              <a:rPr sz="1000">
                <a:solidFill>
                  <a:srgbClr val="E2E8F0"/>
                </a:solidFill>
              </a:rPr>
              <a:t>KernelName&lt;&lt;&lt;grid_dimensions, block_dimensions, shared_mem_bytes, stream&gt;&gt;&gt;(args...);</a:t>
            </a:r>
          </a:p>
          <a:p>
            <a:r>
              <a:rPr b="1" sz="1050">
                <a:solidFill>
                  <a:srgbClr val="FFFFFF"/>
                </a:solidFill>
              </a:rPr>
              <a:t>• Grid Dimensions: </a:t>
            </a:r>
            <a:r>
              <a:rPr sz="1000">
                <a:solidFill>
                  <a:srgbClr val="E2E8F0"/>
                </a:solidFill>
              </a:rPr>
              <a:t>Specifies the number of blocks in the grid. Can be `int` (1D) or `dim3(gx, gy, gz)` (2D/3D).</a:t>
            </a:r>
          </a:p>
          <a:p>
            <a:r>
              <a:rPr b="1" sz="1050">
                <a:solidFill>
                  <a:srgbClr val="FFFFFF"/>
                </a:solidFill>
              </a:rPr>
              <a:t>• Block Dimensions: </a:t>
            </a:r>
            <a:r>
              <a:rPr sz="1000">
                <a:solidFill>
                  <a:srgbClr val="E2E8F0"/>
                </a:solidFill>
              </a:rPr>
              <a:t>Specifies the number of threads per block. Can be `int` (1D) or `dim3(bx, by, bz)` (2D/3D). Maximum 1024 threads per block!</a:t>
            </a:r>
          </a:p>
          <a:p>
            <a:r>
              <a:rPr b="1" sz="1050">
                <a:solidFill>
                  <a:srgbClr val="FFFFFF"/>
                </a:solidFill>
              </a:rPr>
              <a:t>• Asynchronous Launch: </a:t>
            </a:r>
            <a:r>
              <a:rPr sz="1000">
                <a:solidFill>
                  <a:srgbClr val="E2E8F0"/>
                </a:solidFill>
              </a:rPr>
              <a:t>Kernel launches are non-blocking on the Host! The CPU continues execution immediately while the GPU crunches in the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Rule: __global__ functions MUST return `void`. They cannot return values via standard `return` statement; results must be written to pointers in global memory.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9 // TEXTBOOK PROGRAMS 6.1 &amp; 6.2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CUDA Hello World: 1 Block vs. Multiple Blocks (Section 6.5)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Demonstrates multi-threaded printf execution and the non-deterministic scheduling of parallel blocks.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📜 PROGRAM 6.1: SINGLE BLOCK HELLO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#include &lt;stdio.h&gt;</a:t>
            </a:r>
            <a:br/>
            <a:br/>
            <a:r>
              <a:t>__global__ void Hello(void) {</a:t>
            </a:r>
            <a:br/>
            <a:r>
              <a:t>  printf("Hello from thread %d!\n", threadIdx.x);</a:t>
            </a:r>
            <a:br/>
            <a:r>
              <a:t>}</a:t>
            </a:r>
            <a:br/>
            <a:br/>
            <a:r>
              <a:t>int main(void) {</a:t>
            </a:r>
            <a:br/>
            <a:r>
              <a:t>  // 1 block of 32 threads launched</a:t>
            </a:r>
            <a:br/>
            <a:r>
              <a:t>  Hello&lt;&lt;&lt;1, 32&gt;&gt;&gt;();</a:t>
            </a:r>
            <a:br/>
            <a:r>
              <a:t>  cudaDeviceSynchronize();</a:t>
            </a:r>
            <a:br/>
            <a:r>
              <a:t>  return 0;</a:t>
            </a:r>
            <a:br/>
            <a:r>
              <a:t>}</a:t>
            </a:r>
            <a:br/>
            <a:r>
              <a:t>// Output: Threads 0..31 print message.</a:t>
            </a:r>
            <a:br/>
            <a:r>
              <a:t>// Order within a warp is often sequential,</a:t>
            </a:r>
            <a:br/>
            <a:r>
              <a:t>// but not formally guaranteed.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📜 PROGRAM 6.2: MULTI-BLOCK GRID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#include &lt;stdio.h&gt;</a:t>
            </a:r>
            <a:br/>
            <a:br/>
            <a:r>
              <a:t>__global__ void HelloMulti(void) {</a:t>
            </a:r>
            <a:br/>
            <a:r>
              <a:t>  printf("Hello from thread %d in block %d!\n",</a:t>
            </a:r>
            <a:br/>
            <a:r>
              <a:t>         threadIdx.x, blockIdx.x);</a:t>
            </a:r>
            <a:br/>
            <a:r>
              <a:t>}</a:t>
            </a:r>
            <a:br/>
            <a:br/>
            <a:r>
              <a:t>int main(void) {</a:t>
            </a:r>
            <a:br/>
            <a:r>
              <a:t>  // 2 blocks of 4 threads launched</a:t>
            </a:r>
            <a:br/>
            <a:r>
              <a:t>  HelloMulti&lt;&lt;&lt;2, 4&gt;&gt;&gt;();</a:t>
            </a:r>
            <a:br/>
            <a:r>
              <a:t>  cudaDeviceSynchronize();</a:t>
            </a:r>
            <a:br/>
            <a:r>
              <a:t>  return 0;</a:t>
            </a:r>
            <a:br/>
            <a:r>
              <a:t>}</a:t>
            </a:r>
            <a:br/>
            <a:r>
              <a:t>// CRITICAL OBSERVATION:</a:t>
            </a:r>
            <a:br/>
            <a:r>
              <a:t>// Output lines from Block 0 and Block 1</a:t>
            </a:r>
            <a:br/>
            <a:r>
              <a:t>// interleave unpredictably across runs!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Pacheco Chapter 6 Principle: Block scheduling is non-deterministic! Blocks execute in whatever order the hardware SMs pick them up. Never rely on block order.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10 // TEXTBOOK PROGRAMS 6.3 &amp; 6.9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Vector Addition Kernel &amp; Boundary Check (Section 6.6 &amp; 6.7)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The canonical parallel vector addition pattern: 1 thread per element with a boundary guard.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💻 THE VECTOR ADDITION KERNEL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__global__ void VecAdd(float* z,</a:t>
            </a:r>
            <a:br/>
            <a:r>
              <a:t>                       const float* x,</a:t>
            </a:r>
            <a:br/>
            <a:r>
              <a:t>                       const float* y,</a:t>
            </a:r>
            <a:br/>
            <a:r>
              <a:t>                       int n) {</a:t>
            </a:r>
            <a:br/>
            <a:r>
              <a:t>  // Compute unique 1D linear global index</a:t>
            </a:r>
            <a:br/>
            <a:r>
              <a:t>  int my_i = blockDim.x * blockIdx.x + threadIdx.x;</a:t>
            </a:r>
            <a:br/>
            <a:br/>
            <a:r>
              <a:t>  // Boundary check: skip threads beyond n</a:t>
            </a:r>
            <a:br/>
            <a:r>
              <a:t>  if (my_i &lt; n) {</a:t>
            </a:r>
            <a:br/>
            <a:r>
              <a:t>    z[my_i] = x[my_i] + y[my_i];</a:t>
            </a:r>
            <a:br/>
            <a:r>
              <a:t>  }</a:t>
            </a:r>
            <a:br/>
            <a:r>
              <a:t>}</a:t>
            </a:r>
            <a:br/>
            <a:br/>
            <a:r>
              <a:t>// Host Launch Configuration:</a:t>
            </a:r>
            <a:br/>
            <a:r>
              <a:t>int block_size = 256;</a:t>
            </a:r>
            <a:br/>
            <a:r>
              <a:t>int grid_size = (n + block_size - 1) / block_size;</a:t>
            </a:r>
            <a:br/>
            <a:r>
              <a:t>VecAdd&lt;&lt;&lt;grid_size, block_size&gt;&gt;&gt;(d_z, d_x, d_y, n);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🔍 STEP-BY-STEP EXECUTION TRACE</a:t>
            </a:r>
          </a:p>
          <a:p>
            <a:r>
              <a:rPr b="1" sz="1050">
                <a:solidFill>
                  <a:srgbClr val="FFFFFF"/>
                </a:solidFill>
              </a:rPr>
              <a:t>Step 1: Grid Sizing: </a:t>
            </a:r>
            <a:r>
              <a:rPr sz="1000">
                <a:solidFill>
                  <a:srgbClr val="E2E8F0"/>
                </a:solidFill>
              </a:rPr>
              <a:t>Assume vector length n = 1000, block_size = 256. Grid size = (1000 + 255) / 256 = 4 blocks (total 1024 threads).</a:t>
            </a:r>
          </a:p>
          <a:p>
            <a:r>
              <a:rPr b="1" sz="1050">
                <a:solidFill>
                  <a:srgbClr val="FFFFFF"/>
                </a:solidFill>
              </a:rPr>
              <a:t>Step 2: Blocks 0, 1, 2: </a:t>
            </a:r>
            <a:r>
              <a:rPr sz="1000">
                <a:solidFill>
                  <a:srgbClr val="E2E8F0"/>
                </a:solidFill>
              </a:rPr>
              <a:t>Blocks 0..2 compute indices 0 to 767. All threads have `my_i &lt; 1000` -&gt; 100% active compute.</a:t>
            </a:r>
          </a:p>
          <a:p>
            <a:r>
              <a:rPr b="1" sz="1050">
                <a:solidFill>
                  <a:srgbClr val="FFFFFF"/>
                </a:solidFill>
              </a:rPr>
              <a:t>Step 3: Block 3 (Partial): </a:t>
            </a:r>
            <a:r>
              <a:rPr sz="1000">
                <a:solidFill>
                  <a:srgbClr val="E2E8F0"/>
                </a:solidFill>
              </a:rPr>
              <a:t>Threads 0..231 compute indices 768 to 999 (my_i &lt; 1000). Active!</a:t>
            </a:r>
          </a:p>
          <a:p>
            <a:r>
              <a:rPr b="1" sz="1050">
                <a:solidFill>
                  <a:srgbClr val="FFFFFF"/>
                </a:solidFill>
              </a:rPr>
              <a:t>Step 4: Boundary Guard in Action: </a:t>
            </a:r>
            <a:r>
              <a:rPr sz="1000">
                <a:solidFill>
                  <a:srgbClr val="E2E8F0"/>
                </a:solidFill>
              </a:rPr>
              <a:t>Threads 232..255 have `my_i` from 1000 to 1023. `my_i &lt; n` evaluates FALSE. These 24 threads safely skip execution, preventing memory corruption!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Exam Derivation: Explain how 1000 elements are mapped to 4 blocks of 256 threads, identifying exactly which threads execute and which are idle.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11 // HARDWARE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Warp Lockstep Execution: The 32-Thread Physical Atomic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The GPU hardware does not schedule individual threads—it schedules 32-thread Warps.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⚡ THE HARDWARE REALITY OF WARPS (Section 6.8)</a:t>
            </a:r>
          </a:p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  +---------------------------------------------------------------------------------------------------+</a:t>
            </a:r>
            <a:br/>
            <a:r>
              <a:t>  |  WARP SCHEDULER: Issues 1 Instruction to All 32 Execution Lanes Simultaneously in Lockstep        |</a:t>
            </a:r>
            <a:br/>
            <a:r>
              <a:t>  +---------------------------------------------------------------------------------------------------+</a:t>
            </a:r>
            <a:br/>
            <a:r>
              <a:t>    Lane 00  Lane 01  Lane 02  Lane 03  ...  Lane 15  ...  Lane 28  Lane 29  Lane 30  Lane 31</a:t>
            </a:r>
            <a:br/>
            <a:r>
              <a:t>     [ALU]    [ALU]    [ALU]    [ALU]   ...   [ALU]   ...   [ALU]    [ALU]    [ALU]    [ALU]</a:t>
            </a:r>
            <a:br/>
            <a:r>
              <a:t>       |        |        |        |             |             |        |        |        |</a:t>
            </a:r>
            <a:br/>
            <a:r>
              <a:t>     Thread 0 Thread 1 Thread 2 Thread 3 ... Thread 15 ... Thread 28 Thread 29 Thread 30 Thread 31</a:t>
            </a:r>
            <a:br/>
          </a:p>
          <a:p>
            <a:r>
              <a:rPr b="1" sz="1050">
                <a:solidFill>
                  <a:srgbClr val="FFFFFF"/>
                </a:solidFill>
              </a:rPr>
              <a:t>• Warp Size is Always 32: </a:t>
            </a:r>
            <a:r>
              <a:rPr sz="1000">
                <a:solidFill>
                  <a:srgbClr val="E2E8F0"/>
                </a:solidFill>
              </a:rPr>
              <a:t>On all NVIDIA GPU architectures (from Kepler to Hopper and Blackwell), warp size is fixed at 32 threads.</a:t>
            </a:r>
          </a:p>
          <a:p>
            <a:r>
              <a:rPr b="1" sz="1050">
                <a:solidFill>
                  <a:srgbClr val="FFFFFF"/>
                </a:solidFill>
              </a:rPr>
              <a:t>• Thread ID Mapping: </a:t>
            </a:r>
            <a:r>
              <a:rPr sz="1000">
                <a:solidFill>
                  <a:srgbClr val="E2E8F0"/>
                </a:solidFill>
              </a:rPr>
              <a:t>Threads 0..31 belong to Warp 0; Threads 32..63 belong to Warp 1; Threads (32k)..(32k+31) belong to Warp k.</a:t>
            </a:r>
          </a:p>
          <a:p>
            <a:r>
              <a:rPr b="1" sz="1050">
                <a:solidFill>
                  <a:srgbClr val="FFFFFF"/>
                </a:solidFill>
              </a:rPr>
              <a:t>• Zero-Cost Context Switching: </a:t>
            </a:r>
            <a:r>
              <a:rPr sz="1000">
                <a:solidFill>
                  <a:srgbClr val="E2E8F0"/>
                </a:solidFill>
              </a:rPr>
              <a:t>An SM contains multiple resident warps. When Warp 0 stalls on memory, the scheduler swaps to Warp 1 in 1 clock cycle without saving registers to memory because each warp has its own dedicated physical register bank!</a:t>
            </a:r>
          </a:p>
          <a:p>
            <a:r>
              <a:rPr b="1" sz="1050">
                <a:solidFill>
                  <a:srgbClr val="FFFFFF"/>
                </a:solidFill>
              </a:rPr>
              <a:t>• Occupancy Rule: </a:t>
            </a:r>
            <a:r>
              <a:rPr sz="1000">
                <a:solidFill>
                  <a:srgbClr val="E2E8F0"/>
                </a:solidFill>
              </a:rPr>
              <a:t>Always configure thread blocks in multiples of 32 (e.g. 128, 256, 512). A block of 48 threads wastes 16 execution slots in its second warp!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Viva Question: Why should blockDim always be a multiple of 32? Answer: Because hardware executes in 32-thread warps. Non-multiples create under-populated warps that leave hardware cores idle.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12 // ARCHITECTURAL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Warp Branch Divergence &amp; Serialization Penalty (Table 6.1)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When threads in the same warp take different branches, the hardware must execute BOTH branches sequentially!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⚠️ THE DIVERGENT BRANCH PROBLEM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__global__ void DivergentKernel(float* x) {</a:t>
            </a:r>
            <a:br/>
            <a:r>
              <a:t>  int i = threadIdx.x;</a:t>
            </a:r>
            <a:br/>
            <a:r>
              <a:t>  // Suppose Even threads (0,2,4..) have x[i] &gt;= 0</a:t>
            </a:r>
            <a:br/>
            <a:r>
              <a:t>  // and Odd threads (1,3,5..) have x[i] &lt; 0</a:t>
            </a:r>
            <a:br/>
            <a:br/>
            <a:r>
              <a:t>  if (x[i] &gt;= 0.0f) {    // Cycle 1: Condition Test</a:t>
            </a:r>
            <a:br/>
            <a:r>
              <a:t>    x[i] += 1.0f;        // Cycle 2: THEN path</a:t>
            </a:r>
            <a:br/>
            <a:r>
              <a:t>  } else {</a:t>
            </a:r>
            <a:br/>
            <a:r>
              <a:t>    x[i] -= 2.0f;        // Cycle 3: ELSE path</a:t>
            </a:r>
            <a:br/>
            <a:r>
              <a:t>  }</a:t>
            </a:r>
            <a:br/>
            <a:r>
              <a:t>  // Cycle 4: Reconverge &amp; Proceed</a:t>
            </a:r>
            <a:br/>
            <a:r>
              <a:t>}</a:t>
            </a:r>
            <a:br/>
            <a:br/>
            <a:r>
              <a:t>Total Time = Time(THEN) + Time(ELSE)</a:t>
            </a:r>
            <a:br/>
            <a:r>
              <a:t>ALU Efficiency drops by 50%!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📊 PACHECO TABLE 6.1 BENCHMARK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Condition Type    | Active Mask | Execution Time | Efficiency</a:t>
            </a:r>
            <a:br/>
            <a:r>
              <a:t>------------------+-------------+----------------+-----------</a:t>
            </a:r>
            <a:br/>
            <a:r>
              <a:t>Uniform (No div)  | 0xFFFFFFFF  | 1.00x Base     | 100% Full</a:t>
            </a:r>
            <a:br/>
            <a:r>
              <a:t>Even/Odd Altern.  | 0x55555555  | 1.95x Slower   | ~50% Stalls</a:t>
            </a:r>
            <a:br/>
            <a:r>
              <a:t>4-Way Switch      | Multi-Mask  | 3.82x Slower   | ~25% Stalls</a:t>
            </a:r>
            <a:br/>
          </a:p>
          <a:p>
            <a:r>
              <a:rPr b="1" sz="1050">
                <a:solidFill>
                  <a:srgbClr val="FFFFFF"/>
                </a:solidFill>
              </a:rPr>
              <a:t>• Hardware Masking Mechanism: </a:t>
            </a:r>
            <a:r>
              <a:rPr sz="1000">
                <a:solidFill>
                  <a:srgbClr val="E2E8F0"/>
                </a:solidFill>
              </a:rPr>
              <a:t>The warp scheduler disables threads that don't take the active path. Stalled threads remain idle while hardware cycles clock!</a:t>
            </a:r>
          </a:p>
          <a:p>
            <a:r>
              <a:rPr b="1" sz="1050">
                <a:solidFill>
                  <a:srgbClr val="FFFFFF"/>
                </a:solidFill>
              </a:rPr>
              <a:t>• Intra-Warp vs Inter-Warp: </a:t>
            </a:r>
            <a:r>
              <a:rPr sz="1000">
                <a:solidFill>
                  <a:srgbClr val="E2E8F0"/>
                </a:solidFill>
              </a:rPr>
              <a:t>Divergence ONLY penalizes threads within the SAME 32-thread warp. If Warp 0 takes 'then' and Warp 1 takes 'else', there is ZERO divergence penalty!</a:t>
            </a:r>
          </a:p>
          <a:p>
            <a:r>
              <a:rPr b="1" sz="1050">
                <a:solidFill>
                  <a:srgbClr val="FFFFFF"/>
                </a:solidFill>
              </a:rPr>
              <a:t>• Optimization Strategy: </a:t>
            </a:r>
            <a:r>
              <a:rPr sz="1000">
                <a:solidFill>
                  <a:srgbClr val="E2E8F0"/>
                </a:solidFill>
              </a:rPr>
              <a:t>Align conditional data in multiples of 32 so entire warps take the same branch.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Key Distinction: Branch divergence only occurs within a single warp. If Warp 0 takes THEN and Warp 1 takes ELSE, they execute independently without serialization!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13 // NUMERICAL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Trapezoidal Rule: Mathematical Foundations (Section 6.10)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Approximate definite integral by slicing area into n trapezoids and summing them in parallel.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📐 MATHEMATICAL DERIVATION</a:t>
            </a:r>
          </a:p>
          <a:p>
            <a:r>
              <a:rPr b="1" sz="1050">
                <a:solidFill>
                  <a:srgbClr val="FFFFFF"/>
                </a:solidFill>
              </a:rPr>
              <a:t>Problem Statement:
</a:t>
            </a:r>
            <a:r>
              <a:rPr sz="1000">
                <a:solidFill>
                  <a:srgbClr val="10B981"/>
                </a:solidFill>
              </a:rPr>
              <a:t>Approximate definite integral: I = ∫ [a to b] f(x) dx</a:t>
            </a:r>
          </a:p>
          <a:p>
            <a:r>
              <a:rPr b="1" sz="1050">
                <a:solidFill>
                  <a:srgbClr val="FFFFFF"/>
                </a:solidFill>
              </a:rPr>
              <a:t>Subinterval Width (h):
</a:t>
            </a:r>
            <a:r>
              <a:rPr sz="1000">
                <a:solidFill>
                  <a:srgbClr val="10B981"/>
                </a:solidFill>
              </a:rPr>
              <a:t>h = (b - a) / n
Where `n` is the total number of trapezoids.</a:t>
            </a:r>
          </a:p>
          <a:p>
            <a:r>
              <a:rPr b="1" sz="1050">
                <a:solidFill>
                  <a:srgbClr val="FFFFFF"/>
                </a:solidFill>
              </a:rPr>
              <a:t>Sample Grid Points (x_i):
</a:t>
            </a:r>
            <a:r>
              <a:rPr sz="1000">
                <a:solidFill>
                  <a:srgbClr val="10B981"/>
                </a:solidFill>
              </a:rPr>
              <a:t>x_i = a + i * h   for i = 0, 1, 2 ... n</a:t>
            </a:r>
          </a:p>
          <a:p>
            <a:r>
              <a:rPr b="1" sz="1050">
                <a:solidFill>
                  <a:srgbClr val="FFFFFF"/>
                </a:solidFill>
              </a:rPr>
              <a:t>Individual Trapezoid Area (T_i):
</a:t>
            </a:r>
            <a:r>
              <a:rPr sz="1000">
                <a:solidFill>
                  <a:srgbClr val="10B981"/>
                </a:solidFill>
              </a:rPr>
              <a:t>T_i = ( f(x_i) + f(x_{i+1}) ) * 0.5 * h</a:t>
            </a:r>
          </a:p>
          <a:p>
            <a:r>
              <a:rPr b="1" sz="1050">
                <a:solidFill>
                  <a:srgbClr val="FFFFFF"/>
                </a:solidFill>
              </a:rPr>
              <a:t>Composite Trapezoidal Formula:
</a:t>
            </a:r>
            <a:r>
              <a:rPr sz="1000">
                <a:solidFill>
                  <a:srgbClr val="10B981"/>
                </a:solidFill>
              </a:rPr>
              <a:t>Integral ≈ h * [ f(a)/2 + f(x_1) + f(x_2) + ... + f(x_{n-1}) + f(b)/2 ]</a:t>
            </a:r>
          </a:p>
          <a:p>
            <a:r>
              <a:rPr b="1" sz="1050">
                <a:solidFill>
                  <a:srgbClr val="FFFFFF"/>
                </a:solidFill>
              </a:rPr>
              <a:t>Error Term:
</a:t>
            </a:r>
            <a:r>
              <a:rPr sz="1000">
                <a:solidFill>
                  <a:srgbClr val="10B981"/>
                </a:solidFill>
              </a:rPr>
              <a:t>Error is O(h^2) = O(1/n^2). Doubling n quarters the error.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⚡ PARALLEL MAPPING STRATEGY</a:t>
            </a:r>
          </a:p>
          <a:p>
            <a:r>
              <a:rPr b="1" sz="1050">
                <a:solidFill>
                  <a:srgbClr val="FFFFFF"/>
                </a:solidFill>
              </a:rPr>
              <a:t>1. Thread Responsibility:
</a:t>
            </a:r>
            <a:r>
              <a:rPr sz="1000">
                <a:solidFill>
                  <a:srgbClr val="E2E8F0"/>
                </a:solidFill>
              </a:rPr>
              <a:t>Assign each thread `my_i` to calculate exactly ONE trapezoid area `my_trap`.</a:t>
            </a:r>
          </a:p>
          <a:p>
            <a:r>
              <a:rPr b="1" sz="1050">
                <a:solidFill>
                  <a:srgbClr val="FFFFFF"/>
                </a:solidFill>
              </a:rPr>
              <a:t>2. Independent Evaluation:
</a:t>
            </a:r>
            <a:r>
              <a:rPr sz="1000">
                <a:solidFill>
                  <a:srgbClr val="E2E8F0"/>
                </a:solidFill>
              </a:rPr>
              <a:t>Every thread evaluates f(x) independently without any communication.</a:t>
            </a:r>
          </a:p>
          <a:p>
            <a:r>
              <a:rPr b="1" sz="1050">
                <a:solidFill>
                  <a:srgbClr val="FFFFFF"/>
                </a:solidFill>
              </a:rPr>
              <a:t>3. The Reduction Challenge:
</a:t>
            </a:r>
            <a:r>
              <a:rPr sz="1000">
                <a:solidFill>
                  <a:srgbClr val="E2E8F0"/>
                </a:solidFill>
              </a:rPr>
              <a:t>How do all n threads sum their individual `my_trap` values into a single global result?</a:t>
            </a:r>
          </a:p>
          <a:p>
            <a:r>
              <a:rPr b="1" sz="1050">
                <a:solidFill>
                  <a:srgbClr val="FFFFFF"/>
                </a:solidFill>
              </a:rPr>
              <a:t>4. Pacheco's Three Implementations:
</a:t>
            </a:r>
            <a:r>
              <a:rPr sz="1000">
                <a:solidFill>
                  <a:srgbClr val="E2E8F0"/>
                </a:solidFill>
              </a:rPr>
              <a:t>• Program 6.12: atomicAdd (Global contention)
• Program 6.14: Shared Memory Tree Reduction
• Program 6.15: Warp Shuffles (__shfl_down_sync)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The Trapezoidal Rule is Pacheco Chapter 6's primary vehicle for comparing reduction strategies: atomicAdd vs Shared Memory vs Warp Shuffles.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14 // CONCURRENCY &amp; RACE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Program 6.12: Trapezoidal I, Data Races &amp; atomicAdd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Unsynchronized additions to shared memory cause data races; atomicAdd serializes the hardware to guarantee correctness.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💥 THE DATA RACE HAZARD (*trap_p += my_trap)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INCORRECT CODE (DATA RACE!):</a:t>
            </a:r>
            <a:br/>
            <a:r>
              <a:t>__global__ void TrapBuggy(float* trap_p, ...) {</a:t>
            </a:r>
            <a:br/>
            <a:r>
              <a:t>  float my_trap = ...;</a:t>
            </a:r>
            <a:br/>
            <a:r>
              <a:t>  *trap_p += my_trap; // BUG: Concurrent Write!</a:t>
            </a:r>
            <a:br/>
            <a:r>
              <a:t>}</a:t>
            </a:r>
            <a:br/>
            <a:br/>
            <a:r>
              <a:t>Why It Fails (Read-Modify-Write Conflict):</a:t>
            </a:r>
            <a:br/>
            <a:r>
              <a:t>1. Thread 0 reads *trap_p (value = 10.0)</a:t>
            </a:r>
            <a:br/>
            <a:r>
              <a:t>2. Thread 1 reads *trap_p (value = 10.0 simultaneously)</a:t>
            </a:r>
            <a:br/>
            <a:r>
              <a:t>3. Thread 0 writes back: 10.0 + 2.0 = 12.0</a:t>
            </a:r>
            <a:br/>
            <a:r>
              <a:t>4. Thread 1 writes back: 10.0 + 3.0 = 13.0</a:t>
            </a:r>
            <a:br/>
            <a:r>
              <a:t>RESULT: Thread 0's addition is completely STOMPED!</a:t>
            </a:r>
            <a:br/>
            <a:r>
              <a:t>Computed answer: ~14.8 instead of exact 24.0!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🔒 THE SOLUTION: atomicAdd (Program 6.12)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__global__ void TrapAtomic(float* trap_p,</a:t>
            </a:r>
            <a:br/>
            <a:r>
              <a:t>                           float a, float h, int n) {</a:t>
            </a:r>
            <a:br/>
            <a:r>
              <a:t>  int my_i = blockDim.x * blockIdx.x + threadIdx.x;</a:t>
            </a:r>
            <a:br/>
            <a:r>
              <a:t>  if (my_i &lt; n) {</a:t>
            </a:r>
            <a:br/>
            <a:r>
              <a:t>    float x = a + my_i * h;</a:t>
            </a:r>
            <a:br/>
            <a:r>
              <a:t>    float my_trap = 0.5f * (f(x) + f(x + h)) * h;</a:t>
            </a:r>
            <a:br/>
            <a:br/>
            <a:r>
              <a:t>    // Hardware-serialized atomic update</a:t>
            </a:r>
            <a:br/>
            <a:r>
              <a:t>    atomicAdd(trap_p, my_trap);</a:t>
            </a:r>
            <a:br/>
            <a:r>
              <a:t>  }</a:t>
            </a:r>
            <a:br/>
            <a:r>
              <a:t>}</a:t>
            </a:r>
            <a:br/>
            <a:br/>
            <a:r>
              <a:t>atomicAdd performs Read-Modify-Write in 1 uninterruptible</a:t>
            </a:r>
            <a:br/>
            <a:r>
              <a:t>hardware operation. 100% Mathematically Exact (24.0000)!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Exam Warning: While atomicAdd solves data race correctness, having thousands of threads hit the exact same address creates a massive serialization bottleneck (Pacheco Table 6.5).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15 // CONTENTION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atomicAdd Hardware Contention &amp; Scaling Bottlenecks (Table 6.5)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As thread counts grow, atomicAdd forces thousands of threads into a single-file queue at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🚦 THE MEMORY SERIALIZATION BOTTLENECK</a:t>
            </a:r>
          </a:p>
          <a:p>
            <a:r>
              <a:rPr b="1" sz="1050">
                <a:solidFill>
                  <a:srgbClr val="FFFFFF"/>
                </a:solidFill>
              </a:rPr>
              <a:t>The Single Lock Problem: </a:t>
            </a:r>
            <a:r>
              <a:rPr sz="1000">
                <a:solidFill>
                  <a:srgbClr val="E2E8F0"/>
                </a:solidFill>
              </a:rPr>
              <a:t>All threads across all blocks compete for the exact same memory controller line for `*trap_p`.</a:t>
            </a:r>
          </a:p>
          <a:p>
            <a:r>
              <a:rPr b="1" sz="1050">
                <a:solidFill>
                  <a:srgbClr val="FFFFFF"/>
                </a:solidFill>
              </a:rPr>
              <a:t>Token Ring Serialization: </a:t>
            </a:r>
            <a:r>
              <a:rPr sz="1000">
                <a:solidFill>
                  <a:srgbClr val="E2E8F0"/>
                </a:solidFill>
              </a:rPr>
              <a:t>If 1024 threads execute `atomicAdd` simultaneously, only ONE thread can update per cycle. The other 1023 threads must WAIT in a hardware queue!</a:t>
            </a:r>
          </a:p>
          <a:p>
            <a:r>
              <a:rPr b="1" sz="1050">
                <a:solidFill>
                  <a:srgbClr val="FFFFFF"/>
                </a:solidFill>
              </a:rPr>
              <a:t>Bandwidth Starvation: </a:t>
            </a:r>
            <a:r>
              <a:rPr sz="1000">
                <a:solidFill>
                  <a:srgbClr val="E2E8F0"/>
                </a:solidFill>
              </a:rPr>
              <a:t>Compute cores sit idle while waiting for memory lock tokens.</a:t>
            </a:r>
          </a:p>
          <a:p>
            <a:r>
              <a:rPr b="1" sz="1050">
                <a:solidFill>
                  <a:srgbClr val="FFFFFF"/>
                </a:solidFill>
              </a:rPr>
              <a:t>Scaling Breakdown: </a:t>
            </a:r>
            <a:r>
              <a:rPr sz="1000">
                <a:solidFill>
                  <a:srgbClr val="E2E8F0"/>
                </a:solidFill>
              </a:rPr>
              <a:t>Doubling thread count no longer yields 2x speedup because the global memory bus is saturated.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📊 PACHECO TABLE 6.5 CONTENTION DATA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Threads per Block | Runtime (ms) | Contention Overhead</a:t>
            </a:r>
            <a:br/>
            <a:r>
              <a:t>------------------+--------------+--------------------</a:t>
            </a:r>
            <a:br/>
            <a:r>
              <a:t>32 Threads        | 0.42 ms      | Low Contention</a:t>
            </a:r>
            <a:br/>
            <a:r>
              <a:t>128 Threads       | 0.78 ms      | Moderate Queueing</a:t>
            </a:r>
            <a:br/>
            <a:r>
              <a:t>512 Threads       | 1.34 ms      | Heavy Serialization</a:t>
            </a:r>
            <a:br/>
            <a:r>
              <a:t>1024 Threads      | 2.15 ms      | Severe Bottleneck!</a:t>
            </a:r>
            <a:br/>
          </a:p>
          <a:p>
            <a:pPr>
              <a:defRPr sz="1100">
                <a:solidFill>
                  <a:srgbClr val="10B981"/>
                </a:solidFill>
                <a:latin typeface="Segoe UI"/>
              </a:defRPr>
            </a:pPr>
            <a:r>
              <a:t>Takeaway: Program 6.12 fails to scale. To solve this, we must reduce locally within blocks before updating globally!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Pacheco Conclusion: atomicAdd to a single variable is O(N) serialized. We need a tree-structured reduction (O(log N)) to achieve true scalability.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16 // TREE REDUCTIONS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Program 6.14: Shared Memory Tree-Structured Reduction (Section 6.11)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Collapse N additions in O(log2 N) parallel steps using fast shared memory SRAM and stride-halving.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🌳 STRIDE-HALVING BINARY REDUCTION TREE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  Initial:   [s0] [s1] [s2] [s3] [s4] [s5] [s6] [s7]</a:t>
            </a:r>
            <a:br/>
            <a:r>
              <a:t>               ^    ^    ^    ^</a:t>
            </a:r>
            <a:br/>
            <a:r>
              <a:t>  Stride 4:    +----+----+----+-- (s[0]+=s[4], s[1]+=s[5]...)</a:t>
            </a:r>
            <a:br/>
            <a:r>
              <a:t>             [s0] [s1] [s2] [s3]  (Threads 4..7 idle)</a:t>
            </a:r>
            <a:br/>
            <a:r>
              <a:t>               ^    ^</a:t>
            </a:r>
            <a:br/>
            <a:r>
              <a:t>  Stride 2:    +----+----------- (s[0]+=s[2], s[1]+=s[3])</a:t>
            </a:r>
            <a:br/>
            <a:r>
              <a:t>             [s0] [s1]           (Threads 2..7 idle)</a:t>
            </a:r>
            <a:br/>
            <a:r>
              <a:t>               ^</a:t>
            </a:r>
            <a:br/>
            <a:r>
              <a:t>  Stride 1:    +---------------- (s[0]+=s[1])</a:t>
            </a:r>
            <a:br/>
            <a:r>
              <a:t>             [s0] = FINAL BLOCK SUM! (O(log2 8) = 3 steps)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💻 PROGRAM 6.14 IMPLEMENTATION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__shared__ float s[BLOCK_SIZE];</a:t>
            </a:r>
            <a:br/>
            <a:r>
              <a:t>int tx = threadIdx.x;</a:t>
            </a:r>
            <a:br/>
            <a:r>
              <a:t>s[tx] = my_trap;        // Load into fast shared SRAM</a:t>
            </a:r>
            <a:br/>
            <a:r>
              <a:t>__syncthreads();        // Barrier: wait for all loads</a:t>
            </a:r>
            <a:br/>
            <a:br/>
            <a:r>
              <a:t>// Stride-halving reduction loop: O(log2 n)</a:t>
            </a:r>
            <a:br/>
            <a:r>
              <a:t>for (int stride = blockDim.x / 2; stride &gt; 0; stride /= 2) {</a:t>
            </a:r>
            <a:br/>
            <a:r>
              <a:t>  if (tx &lt; stride) {</a:t>
            </a:r>
            <a:br/>
            <a:r>
              <a:t>    s[tx] += s[tx + stride]; // Parallel merge</a:t>
            </a:r>
            <a:br/>
            <a:r>
              <a:t>  }</a:t>
            </a:r>
            <a:br/>
            <a:r>
              <a:t>  __syncthreads();     // Critical barrier after merge!</a:t>
            </a:r>
            <a:br/>
            <a:r>
              <a:t>}</a:t>
            </a:r>
            <a:br/>
            <a:br/>
            <a:r>
              <a:t>// Thread 0 writes final block sum via single atomicAdd</a:t>
            </a:r>
            <a:br/>
            <a:r>
              <a:t>if (tx == 0) atomicAdd(trap_p, s[0]);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Why only 1 atomicAdd per block? In a 1024-thread block, Program 6.12 did 1024 atomic additions. Program 6.14 does only ONE atomicAdd per block, cutting global contention by 1024x!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17 //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Barrier Synchronization &amp; __syncthreads() Rules (Section 6.11.2)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__syncthreads() coordinates threads within a block. If omitted, Read-After-Write (RAW) data races corrupt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⚠️ THE READ-AFTER-WRITE (RAW) HAZARD</a:t>
            </a:r>
          </a:p>
          <a:p>
            <a:r>
              <a:rPr b="1" sz="1050">
                <a:solidFill>
                  <a:srgbClr val="FFFFFF"/>
                </a:solidFill>
              </a:rPr>
              <a:t>Without __syncthreads(): </a:t>
            </a:r>
            <a:r>
              <a:rPr sz="1000">
                <a:solidFill>
                  <a:srgbClr val="E2E8F0"/>
                </a:solidFill>
              </a:rPr>
              <a:t>Threads execute asynchronously. Thread 0 might rush ahead to stride 2 before Thread 4 has finished writing its stride 1 sum to `s[4]`!</a:t>
            </a:r>
          </a:p>
          <a:p>
            <a:r>
              <a:rPr b="1" sz="1050">
                <a:solidFill>
                  <a:srgbClr val="FFFFFF"/>
                </a:solidFill>
              </a:rPr>
              <a:t>The Hazard: </a:t>
            </a:r>
            <a:r>
              <a:rPr sz="1000">
                <a:solidFill>
                  <a:srgbClr val="E2E8F0"/>
                </a:solidFill>
              </a:rPr>
              <a:t>Thread 0 reads stale, un-updated data from `s[tx + stride]`. The reduction tree computes an incorrect sum!</a:t>
            </a:r>
          </a:p>
          <a:p>
            <a:r>
              <a:rPr b="1" sz="1050">
                <a:solidFill>
                  <a:srgbClr val="FFFFFF"/>
                </a:solidFill>
              </a:rPr>
              <a:t>The Fix: </a:t>
            </a:r>
            <a:r>
              <a:rPr sz="1000">
                <a:solidFill>
                  <a:srgbClr val="E2E8F0"/>
                </a:solidFill>
              </a:rPr>
              <a:t>Calling `__syncthreads()` forces every thread in the block to reach the barrier before ANY thread is permitted to pass.</a:t>
            </a:r>
          </a:p>
          <a:p>
            <a:r>
              <a:rPr b="1" sz="1050">
                <a:solidFill>
                  <a:srgbClr val="FFFFFF"/>
                </a:solidFill>
              </a:rPr>
              <a:t>Memory Visibility: </a:t>
            </a:r>
            <a:r>
              <a:rPr sz="1000">
                <a:solidFill>
                  <a:srgbClr val="E2E8F0"/>
                </a:solidFill>
              </a:rPr>
              <a:t>All shared and global memory writes made before the barrier are guaranteed visible to all threads after the barrier.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🛑 STRICT RULE: DIVERGENT BARRIER DEADLOCK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// FATAL BUG: __syncthreads() INSIDE DIVERGENT IF</a:t>
            </a:r>
            <a:br/>
            <a:r>
              <a:t>if (threadIdx.x &lt; stride) {</a:t>
            </a:r>
            <a:br/>
            <a:r>
              <a:t>  s[tx] += s[tx + stride];</a:t>
            </a:r>
            <a:br/>
            <a:r>
              <a:t>  __syncthreads(); // DEADLOCK HAZARD!</a:t>
            </a:r>
            <a:br/>
            <a:r>
              <a:t>}</a:t>
            </a:r>
            <a:br/>
            <a:br/>
            <a:r>
              <a:t>Why This Causes Hardware Hangs:</a:t>
            </a:r>
            <a:br/>
            <a:r>
              <a:t>• Threads with `tx &gt;= stride` never execute the if-block.</a:t>
            </a:r>
            <a:br/>
            <a:r>
              <a:t>• The barrier waits for ALL threads in the block.</a:t>
            </a:r>
            <a:br/>
            <a:r>
              <a:t>• Result: The hardware hangs indefinitely (undefined behavior)!</a:t>
            </a:r>
            <a:br/>
            <a:br/>
            <a:r>
              <a:t>RULE: __syncthreads() MUST be called either by ALL threads</a:t>
            </a:r>
            <a:br/>
            <a:r>
              <a:t>in the block, or by NONE of them. Place it OUTSIDE the `if`!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Top Viva Question: Can __syncthreads() be placed inside an `if (threadIdx.x &lt; stride)` block? NO! It causes hardware deadlock or undefined behavior.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18 // MEMORY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Shared Memory 32-Bank Conflicts &amp; Stride Analysis (Table 6.9)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Shared memory is split into 32 parallel banks. When multiple threads in a warp access the same bank, requests are serialized.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🏛️ 32-BANK INTERLEAVED ARCHITECTURE</a:t>
            </a:r>
          </a:p>
          <a:p>
            <a:r>
              <a:rPr b="1" sz="1050">
                <a:solidFill>
                  <a:srgbClr val="FFFFFF"/>
                </a:solidFill>
              </a:rPr>
              <a:t>Physical Organization: </a:t>
            </a:r>
            <a:r>
              <a:rPr sz="1000">
                <a:solidFill>
                  <a:srgbClr val="E2E8F0"/>
                </a:solidFill>
              </a:rPr>
              <a:t>Shared memory SRAM consists of 32 independent banks (Bank 0 to Bank 31), each 4 bytes wide (32 bits).</a:t>
            </a:r>
          </a:p>
          <a:p>
            <a:r>
              <a:rPr b="1" sz="1050">
                <a:solidFill>
                  <a:srgbClr val="FFFFFF"/>
                </a:solidFill>
              </a:rPr>
              <a:t>Address Formula: </a:t>
            </a:r>
            <a:r>
              <a:rPr sz="1000">
                <a:solidFill>
                  <a:srgbClr val="E2E8F0"/>
                </a:solidFill>
              </a:rPr>
              <a:t>bank_id = (word_address) % 32 = (byte_address / 4) % 32.</a:t>
            </a:r>
          </a:p>
          <a:p>
            <a:r>
              <a:rPr b="1" sz="1050">
                <a:solidFill>
                  <a:srgbClr val="FFFFFF"/>
                </a:solidFill>
              </a:rPr>
              <a:t>1-Cycle Peak Bandwidth: </a:t>
            </a:r>
            <a:r>
              <a:rPr sz="1000">
                <a:solidFill>
                  <a:srgbClr val="E2E8F0"/>
                </a:solidFill>
              </a:rPr>
              <a:t>If all 32 threads in a warp access 32 distinct banks simultaneously, access completes in ONE clock cycle!</a:t>
            </a:r>
          </a:p>
          <a:p>
            <a:r>
              <a:rPr b="1" sz="1050">
                <a:solidFill>
                  <a:srgbClr val="FFFFFF"/>
                </a:solidFill>
              </a:rPr>
              <a:t>k-Way Bank Conflict: </a:t>
            </a:r>
            <a:r>
              <a:rPr sz="1000">
                <a:solidFill>
                  <a:srgbClr val="E2E8F0"/>
                </a:solidFill>
              </a:rPr>
              <a:t>If `k` threads target the same bank at different addresses, access serializes into `k` separate clock cycles (throughput drops to 1/k).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📊 STRIDE ACCESS &amp; PACHECO TABLE 6.9</a:t>
            </a:r>
          </a:p>
          <a:p>
            <a:pPr>
              <a:defRPr sz="950">
                <a:solidFill>
                  <a:srgbClr val="FFFFFF"/>
                </a:solidFill>
                <a:latin typeface="Consolas"/>
              </a:defRPr>
            </a:pPr>
            <a:r>
              <a:t>Stride Pattern | Target Bank Formula  | Conflict Degree | Cycles</a:t>
            </a:r>
            <a:br/>
            <a:r>
              <a:t>---------------+----------------------+-----------------+-------</a:t>
            </a:r>
            <a:br/>
            <a:r>
              <a:t>Stride 1       | (t * 1) % 32         | 0 Conflicts     | 1 Cycle</a:t>
            </a:r>
            <a:br/>
            <a:r>
              <a:t>Stride 2       | (t * 2) % 32         | 2-Way Conflict  | 2 Cycles</a:t>
            </a:r>
            <a:br/>
            <a:r>
              <a:t>Stride 4       | (t * 4) % 32         | 4-Way Conflict  | 4 Cycles</a:t>
            </a:r>
            <a:br/>
            <a:r>
              <a:t>Stride 32      | (t * 32) % 32 = 0!   | 32-WAY DISASTER!| 32 Cycles</a:t>
            </a:r>
            <a:br/>
          </a:p>
          <a:p>
            <a:pPr>
              <a:defRPr sz="1050">
                <a:solidFill>
                  <a:srgbClr val="10B981"/>
                </a:solidFill>
                <a:latin typeface="Segoe UI"/>
              </a:defRPr>
            </a:pPr>
            <a:r>
              <a:t>Why Stride-Halving in Program 6.14 is Brilliant:</a:t>
            </a:r>
            <a:br/>
            <a:r>
              <a:t>In Program 6.14, active threads are sequential (tx = 0, 1, 2...). Thread tx accesses Bank tx, guaranteeing ZERO bank conflicts throughout the entire reduction!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Exam Proof: Why does stride-doubling cause bank conflicts while stride-halving avoids them? In stride-doubling, thread spacing hits identical banks mod 32. In stride-halving, active threads 0..stride-1 remain contiguous!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19 // WARP-LEVEL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Program 6.15: Warp Shuffles (__shfl_down_sync) (Section 6.13)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Warp shuffles exchange values directly between registers across threads in 1 cycle with ZERO shared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⚡ THE __shfl_down_sync PRIMITIVE</a:t>
            </a:r>
          </a:p>
          <a:p>
            <a:pPr>
              <a:defRPr sz="950">
                <a:solidFill>
                  <a:srgbClr val="E2E8F0"/>
                </a:solidFill>
                <a:latin typeface="Consolas"/>
              </a:defRPr>
            </a:pPr>
            <a:r>
              <a:t>Syntax:</a:t>
            </a:r>
            <a:br/>
            <a:r>
              <a:t>T __shfl_down_sync(unsigned mask, T var, int delta);</a:t>
            </a:r>
            <a:br/>
            <a:br/>
            <a:r>
              <a:t>How It Works:</a:t>
            </a:r>
            <a:br/>
            <a:r>
              <a:t>• Lane `i` reads `var` from Lane `(i + delta)`.</a:t>
            </a:r>
            <a:br/>
            <a:r>
              <a:t>• Operates entirely through internal register interconnects.</a:t>
            </a:r>
            <a:br/>
            <a:r>
              <a:t>• Replaces shared memory for intra-warp reductions!</a:t>
            </a:r>
            <a:br/>
            <a:br/>
            <a:r>
              <a:t>Three Massive Architectural Advantages:</a:t>
            </a:r>
            <a:br/>
            <a:r>
              <a:t>1. ZERO Shared Memory Allocated (0 bytes footprint).</a:t>
            </a:r>
            <a:br/>
            <a:r>
              <a:t>2. ZERO __syncthreads() Barriers (Warps run in lockstep).</a:t>
            </a:r>
            <a:br/>
            <a:r>
              <a:t>3. 1 Single Clock Cycle Latency (Register-to-register).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💻 PROGRAM 6.15 IMPLEMENTATION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__inline__ __device__ float WarpReduceSum(float val) {</a:t>
            </a:r>
            <a:br/>
            <a:r>
              <a:t>  // 32 threads collapse in exactly 5 single-cycle steps:</a:t>
            </a:r>
            <a:br/>
            <a:r>
              <a:t>  // delta = 16, 8, 4, 2, 1</a:t>
            </a:r>
            <a:br/>
            <a:r>
              <a:t>  for (int offset = warpSize / 2; offset &gt; 0; offset /= 2) {</a:t>
            </a:r>
            <a:br/>
            <a:r>
              <a:t>    val += __shfl_down_sync(0xFFFFFFFF, val, offset);</a:t>
            </a:r>
            <a:br/>
            <a:r>
              <a:t>  }</a:t>
            </a:r>
            <a:br/>
            <a:r>
              <a:t>  return val; // Lane 0 holds the total warp sum!</a:t>
            </a:r>
            <a:br/>
            <a:r>
              <a:t>}</a:t>
            </a:r>
            <a:br/>
            <a:br/>
            <a:r>
              <a:t>// Execution trace in Warp 0 (32 threads):</a:t>
            </a:r>
            <a:br/>
            <a:r>
              <a:t>// Step 1: delta = 16 -&gt; Lane 0 gets val + Lane 16 val</a:t>
            </a:r>
            <a:br/>
            <a:r>
              <a:t>// Step 2: delta = 8  -&gt; Lane 0 gets + Lane 8</a:t>
            </a:r>
            <a:br/>
            <a:r>
              <a:t>// Step 3: delta = 4  -&gt; Lane 0 gets + Lane 4</a:t>
            </a:r>
            <a:br/>
            <a:r>
              <a:t>// Step 4: delta = 2  -&gt; Lane 0 gets + Lane 2</a:t>
            </a:r>
            <a:br/>
            <a:r>
              <a:t>// Step 5: delta = 1  -&gt; Lane 0 gets + Lane 1 (DONE in 5 cycles!)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Warp shuffles are the standard modern building block for high-performance CUDA reductions, tensor cores, and LLM attention kernels.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20 // HIERARCHICAL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Hierarchical Multi-Warp Block Reduction (1024 Threads)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Scale warp shuffles to full 1024-thread blocks using a two-tier hybrid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🏛️ TWO-TIER HIERARCHICAL REDUCTION PIPELINE (1024 Threads per Block)</a:t>
            </a:r>
          </a:p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  [1024 Threads in Block] = 32 Warps x 32 Threads</a:t>
            </a:r>
            <a:br/>
            <a:r>
              <a:t>  |</a:t>
            </a:r>
            <a:br/>
            <a:r>
              <a:t>  +---&gt; TIER 1: INTRA-WARP REDUCTION (__shfl_down_sync)</a:t>
            </a:r>
            <a:br/>
            <a:r>
              <a:t>  |     • All 32 warps run WarpReduceSum() simultaneously in parallel registers!</a:t>
            </a:r>
            <a:br/>
            <a:r>
              <a:t>  |     • Takes only 5 clock cycles. Zero shared memory used.</a:t>
            </a:r>
            <a:br/>
            <a:r>
              <a:t>  |     • Result: Lane 0 of each warp holds that warp's partial sum (32 warp sums).</a:t>
            </a:r>
            <a:br/>
            <a:r>
              <a:t>  |</a:t>
            </a:r>
            <a:br/>
            <a:r>
              <a:t>  +---&gt; INTER-WARP BUFFERING (Small Shared Memory Array)</a:t>
            </a:r>
            <a:br/>
            <a:r>
              <a:t>  |     • Lane 0 of each warp writes its sum to: `__shared__ float s_warp_sums[32];`</a:t>
            </a:r>
            <a:br/>
            <a:r>
              <a:t>  |     • Requires only ONE single `__syncthreads()` barrier across the block.</a:t>
            </a:r>
            <a:br/>
            <a:r>
              <a:t>  |</a:t>
            </a:r>
            <a:br/>
            <a:r>
              <a:t>  +---&gt; TIER 2: FINAL WARP AGGREGATION (__shfl_down_sync)</a:t>
            </a:r>
            <a:br/>
            <a:r>
              <a:t>        • Warp 0 loads `s_warp_sums[lane]` (threads 0..31 hold the 32 warp sums).</a:t>
            </a:r>
            <a:br/>
            <a:r>
              <a:t>        • Warp 0 runs ONE final WarpReduceSum() in 5 clock cycles.</a:t>
            </a:r>
            <a:br/>
            <a:r>
              <a:t>        • Lane 0 holds the FINAL BLOCK SUM! Total Block Time: ~12 clock cycles!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Why this achieves peak hardware speedup: Instead of 1024 elements contending for shared memory, shared memory only stores 32 numbers! 99% of reduction happens in registers.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CONCEPT 21 // PERFORMANCE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Textbook Performance Shootout: Table 6.7 Comprehensive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From Program 6.12 to 6.15: How algorithmic optimization delivers a 4.3x speedup on identical silicon.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📊 PETER S. PACHECO TABLE 6.7 (2^24 Elements = ~16.7 Million Trapezoids)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Program Version | Implementation Technique      | Runtime (ms) | Speedup vs Baseline | Primary Bottleneck</a:t>
            </a:r>
            <a:br/>
            <a:r>
              <a:t>----------------+-------------------------------+--------------+---------------------+-----------------------------------</a:t>
            </a:r>
            <a:br/>
            <a:r>
              <a:t>Program 6.12    | atomicAdd Global Accumulator  | 1.62 ms      | 1.00x (Baseline)    | Global memory lock contention</a:t>
            </a:r>
            <a:br/>
            <a:r>
              <a:t>Program 6.13    | Block Loop Accumulator        | 1.15 ms      | 1.41x Speedup       | Intermediate register pressure</a:t>
            </a:r>
            <a:br/>
            <a:r>
              <a:t>Program 6.14    | Shared Memory Tree Reduction  | 0.65 ms      | 2.49x Speedup       | __syncthreads() barrier latency</a:t>
            </a:r>
            <a:br/>
            <a:r>
              <a:t>Program 6.15    | Warp Shuffle (__shfl_down_sync)| 0.38 ms     | 4.26x SPEEDUP!      | Pure memory bandwidth bound (PEAK)</a:t>
            </a:r>
            <a:br/>
          </a:p>
          <a:p>
            <a:r>
              <a:rPr b="1" sz="1050">
                <a:solidFill>
                  <a:srgbClr val="FFFFFF"/>
                </a:solidFill>
              </a:rPr>
              <a:t>• Why Program 6.14 is 2.5x faster: </a:t>
            </a:r>
            <a:r>
              <a:rPr sz="1000">
                <a:solidFill>
                  <a:srgbClr val="E2E8F0"/>
                </a:solidFill>
              </a:rPr>
              <a:t>Eliminated 99.9% of global atomicAdd calls by reducing inside each block using on-chip SRAM.</a:t>
            </a:r>
          </a:p>
          <a:p>
            <a:r>
              <a:rPr b="1" sz="1050">
                <a:solidFill>
                  <a:srgbClr val="FFFFFF"/>
                </a:solidFill>
              </a:rPr>
              <a:t>• Why Program 6.15 is 4.3x faster: </a:t>
            </a:r>
            <a:r>
              <a:rPr sz="1000">
                <a:solidFill>
                  <a:srgbClr val="E2E8F0"/>
                </a:solidFill>
              </a:rPr>
              <a:t>Eliminated shared memory bank lookups and block synchronization entirely within warps, reducing data exchange to 1-cycle register shuffles.</a:t>
            </a:r>
          </a:p>
          <a:p>
            <a:r>
              <a:rPr b="1" sz="1050">
                <a:solidFill>
                  <a:srgbClr val="FFFFFF"/>
                </a:solidFill>
              </a:rPr>
              <a:t>• Amdahl's Law Ceiling: </a:t>
            </a:r>
            <a:r>
              <a:rPr sz="1000">
                <a:solidFill>
                  <a:srgbClr val="E2E8F0"/>
                </a:solidFill>
              </a:rPr>
              <a:t>At 0.38ms, the kernel has saturated GPU memory bandwidth. Further optimization must focus on PCIe bus pipelining (CUDA Streams).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Exam Question: Compare the performance of Programs 6.12, 6.14, and 6.15 from Pacheco. Memorize the progression: atomicAdd (1.62ms) -&gt; Shared Tree (0.65ms) -&gt; Warp Shuffle (0.38ms).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EXAM MASTERCLASS // BCS702 QUESTION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VTU Module 5: 10-Mark Model Exam Questions &amp; Answering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How to score maximum marks on Module 5 questions in university exams.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📝 TOP VTU 10-MARK QUESTIONS</a:t>
            </a:r>
          </a:p>
          <a:p>
            <a:r>
              <a:rPr b="1" sz="1050">
                <a:solidFill>
                  <a:srgbClr val="FFFFFF"/>
                </a:solidFill>
              </a:rPr>
              <a:t>Q1 (10 Marks): </a:t>
            </a:r>
            <a:r>
              <a:rPr sz="1000">
                <a:solidFill>
                  <a:srgbClr val="E2E8F0"/>
                </a:solidFill>
              </a:rPr>
              <a:t>Explain CUDA thread hierarchy (Thread, Warp, Block, Grid) with neat diagrams and indexing formulas.</a:t>
            </a:r>
          </a:p>
          <a:p>
            <a:r>
              <a:rPr b="1" sz="1050">
                <a:solidFill>
                  <a:srgbClr val="FFFFFF"/>
                </a:solidFill>
              </a:rPr>
              <a:t>Q2 (10 Marks): </a:t>
            </a:r>
            <a:r>
              <a:rPr sz="1000">
                <a:solidFill>
                  <a:srgbClr val="E2E8F0"/>
                </a:solidFill>
              </a:rPr>
              <a:t>Write a CUDA C program for vector addition. Explain memory allocation and data transfer APIs.</a:t>
            </a:r>
          </a:p>
          <a:p>
            <a:r>
              <a:rPr b="1" sz="1050">
                <a:solidFill>
                  <a:srgbClr val="FFFFFF"/>
                </a:solidFill>
              </a:rPr>
              <a:t>Q3 (10 Marks): </a:t>
            </a:r>
            <a:r>
              <a:rPr sz="1000">
                <a:solidFill>
                  <a:srgbClr val="E2E8F0"/>
                </a:solidFill>
              </a:rPr>
              <a:t>What is warp branch divergence? Explain with Table 6.1 and code example how performance degrades.</a:t>
            </a:r>
          </a:p>
          <a:p>
            <a:r>
              <a:rPr b="1" sz="1050">
                <a:solidFill>
                  <a:srgbClr val="FFFFFF"/>
                </a:solidFill>
              </a:rPr>
              <a:t>Q4 (10 Marks): </a:t>
            </a:r>
            <a:r>
              <a:rPr sz="1000">
                <a:solidFill>
                  <a:srgbClr val="E2E8F0"/>
                </a:solidFill>
              </a:rPr>
              <a:t>Explain Shared Memory 32-bank conflicts and how stride access affects memory throughput.</a:t>
            </a:r>
          </a:p>
          <a:p>
            <a:r>
              <a:rPr b="1" sz="1050">
                <a:solidFill>
                  <a:srgbClr val="FFFFFF"/>
                </a:solidFill>
              </a:rPr>
              <a:t>Q5 (10 Marks): </a:t>
            </a:r>
            <a:r>
              <a:rPr sz="1000">
                <a:solidFill>
                  <a:srgbClr val="E2E8F0"/>
                </a:solidFill>
              </a:rPr>
              <a:t>Describe the Trapezoidal Rule parallelization using atomicAdd vs Shared Memory Tree Reduction.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🎯 10-MARK SCORING STRATEGY</a:t>
            </a:r>
          </a:p>
          <a:p>
            <a:r>
              <a:rPr b="1" sz="1050">
                <a:solidFill>
                  <a:srgbClr val="FFFFFF"/>
                </a:solidFill>
              </a:rPr>
              <a:t>1. Always Draw a Diagram (3 Marks):
</a:t>
            </a:r>
            <a:r>
              <a:rPr sz="1000">
                <a:solidFill>
                  <a:srgbClr val="E2E8F0"/>
                </a:solidFill>
              </a:rPr>
              <a:t>Draw the Grid/Block hierarchy box, SM microarchitecture, or 32-bank memory radar.</a:t>
            </a:r>
          </a:p>
          <a:p>
            <a:r>
              <a:rPr b="1" sz="1050">
                <a:solidFill>
                  <a:srgbClr val="FFFFFF"/>
                </a:solidFill>
              </a:rPr>
              <a:t>2. State Exact Formulas (2 Marks):
</a:t>
            </a:r>
            <a:r>
              <a:rPr sz="1000">
                <a:solidFill>
                  <a:srgbClr val="E2E8F0"/>
                </a:solidFill>
              </a:rPr>
              <a:t>Write `my_i = blockDim.x * blockIdx.x + threadIdx.x` and the ceiling formula `(n + B - 1) / B`.</a:t>
            </a:r>
          </a:p>
          <a:p>
            <a:r>
              <a:rPr b="1" sz="1050">
                <a:solidFill>
                  <a:srgbClr val="FFFFFF"/>
                </a:solidFill>
              </a:rPr>
              <a:t>3. Provide Syntactically Valid Code (3 Marks):
</a:t>
            </a:r>
            <a:r>
              <a:rPr sz="1000">
                <a:solidFill>
                  <a:srgbClr val="E2E8F0"/>
                </a:solidFill>
              </a:rPr>
              <a:t>Include `__global__`, proper kernel launch `&lt;&lt;&lt;grid, block&gt;&gt;&gt;`, and `cudaMemcpy` calls.</a:t>
            </a:r>
          </a:p>
          <a:p>
            <a:r>
              <a:rPr b="1" sz="1050">
                <a:solidFill>
                  <a:srgbClr val="FFFFFF"/>
                </a:solidFill>
              </a:rPr>
              <a:t>4. Explain Hardware Tradeoffs (2 Marks):
</a:t>
            </a:r>
            <a:r>
              <a:rPr sz="1000">
                <a:solidFill>
                  <a:srgbClr val="E2E8F0"/>
                </a:solidFill>
              </a:rPr>
              <a:t>Mention warp size 32, PCIe latency overhead, and latency hiding via warp scheduling.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F59E0B"/>
                </a:solidFill>
                <a:latin typeface="Segoe UI"/>
              </a:rPr>
              <a:t>💡 EXAM &amp; VIVA TIP: </a:t>
            </a:r>
            <a:r>
              <a:rPr sz="1100">
                <a:solidFill>
                  <a:srgbClr val="E2E8F0"/>
                </a:solidFill>
                <a:latin typeface="Segoe UI"/>
              </a:rPr>
              <a:t>Check your exam question paper: Module 5 questions almost always combine a theoretical diagram (5 Marks) with a complete CUDA kernel implementation (5 Marks).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onsolas"/>
              </a:defRPr>
            </a:pPr>
            <a:r>
              <a:t>MASTERY SUMMARY // COMPLETE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Module 5 Final Review: Core Formulas, APIs &amp; Rules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Core Insight: The ultimate one-page reference for your 2-hour session, teaching prep, and examinations.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39319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📋 THE DEFINITIVE CUDA MODULE 5 FORMULA &amp; API CHEAT SHEET</a:t>
            </a:r>
          </a:p>
          <a:p>
            <a:pPr>
              <a:defRPr sz="950">
                <a:solidFill>
                  <a:srgbClr val="10B981"/>
                </a:solidFill>
                <a:latin typeface="Consolas"/>
              </a:defRPr>
            </a:pPr>
            <a:r>
              <a:t>Concept                 | Formula / API Signature                            | Golden Architectural Rule</a:t>
            </a:r>
            <a:br/>
            <a:r>
              <a:t>------------------------+----------------------------------------------------+-------------------------------------------</a:t>
            </a:r>
            <a:br/>
            <a:r>
              <a:t>1D Thread Index         | my_i = blockDim.x * blockIdx.x + threadIdx.x       | Always guard with: if (my_i &lt; n)</a:t>
            </a:r>
            <a:br/>
            <a:r>
              <a:t>1D Grid Ceiling         | gridDim.x = (n + blockDim.x - 1) / blockDim.x      | Prevents dropping final partial block</a:t>
            </a:r>
            <a:br/>
            <a:r>
              <a:t>2D Matrix Index         | row = bDim.y * bIdx.y + tIdx.y; col = ...          | Flattened offset: row * width + col</a:t>
            </a:r>
            <a:br/>
            <a:r>
              <a:t>Warp / Lane ID          | warp_id = my_i / 32;  lane_id = my_i % 32          | Hardware operates in 32-lane lockstep</a:t>
            </a:r>
            <a:br/>
            <a:r>
              <a:t>Memory Allocation       | cudaMalloc(&amp;dev_ptr, bytes);  cudaFree(dev_ptr);   | Allocates in GPU VRAM off-chip</a:t>
            </a:r>
            <a:br/>
            <a:r>
              <a:t>Memory Transfer         | cudaMemcpy(dst, src, bytes, H2D | D2H);           | PCIe bottleneck: ~10,000 cycles latency</a:t>
            </a:r>
            <a:br/>
            <a:r>
              <a:t>Unified Memory          | cudaMallocManaged(&amp;ptr, bytes);                    | Single virtual pointer, page migration</a:t>
            </a:r>
            <a:br/>
            <a:r>
              <a:t>Barrier Sync            | __syncthreads();                                   | Block scope only. NEVER inside divergent if!</a:t>
            </a:r>
            <a:br/>
            <a:r>
              <a:t>Bank Index              | bank_id = (word_address) % 32                      | Stride 1 = 1 cycle; Stride 32 = 32 cycles</a:t>
            </a:r>
            <a:br/>
            <a:r>
              <a:t>Warp Shuffle            | __shfl_down_sync(0xFFFFFFFF, val, delta);          | 1-cycle register swap; 0 shared memory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8655" cy="5943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10B981"/>
                </a:solidFill>
                <a:latin typeface="Segoe UI"/>
              </a:rPr>
              <a:t>💡 MASTERCLASS COMPLETE: </a:t>
            </a:r>
            <a:r>
              <a:rPr sz="1100">
                <a:solidFill>
                  <a:srgbClr val="E2E8F0"/>
                </a:solidFill>
                <a:latin typeface="Segoe UI"/>
              </a:rPr>
              <a:t>Congratulations! You have completed the comprehensive Module 5 Masterclass. All concepts, code patterns, and hardware mechanics are now in your toolkit.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